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v1からの改訂版。7つのメンバー意見を統合し、コンセプトの骨格を「差分（Delta）」で組み直した。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7つを並べると、全部が「AとBの差」の形をしている。特に⑥だけは空間ではなく本人の中の差である点が重要。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出典：気象庁「2週間気温予報」と「早期天候情報」 https://www.jma.go.jp/jma/kishou/know/kurashi/twoweek.html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リスクの非対称性：MBTIが外れても「まあそんなものか」で済むが、経験レベルが外れると「使えない」と判断される。土台には外れない軸を置く。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Concept Share  ·  v2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214884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Omakase Travel Planner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10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おまかせで、あっと驚く旅程を。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770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あなたの「いつも」を基準に、目的地との“差分”だけを届ける旅行エージェント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342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 × 現地の知見 × Delta（差分）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この改訂で変えた3点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7つの意見は「機能追加リスト」ではなく、骨格を組み替える示唆だった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379476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v2（本資料）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2971800" cy="1170432"/>
          </a:xfrm>
          <a:prstGeom prst="roundRect">
            <a:avLst>
              <a:gd name="adj" fmla="val 4688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72768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中核コンセプト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94760" y="1572768"/>
            <a:ext cx="3200400" cy="1170432"/>
          </a:xfrm>
          <a:prstGeom prst="roundRect">
            <a:avLst>
              <a:gd name="adj" fmla="val 468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572768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Omakase × Omotenashi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022592" y="1572768"/>
            <a:ext cx="292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0" y="1572768"/>
            <a:ext cx="4206240" cy="1170432"/>
          </a:xfrm>
          <a:prstGeom prst="roundRect">
            <a:avLst>
              <a:gd name="adj" fmla="val 468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43800" y="1572768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Omakase × Omotenashi × Delta（差分）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44368"/>
            <a:ext cx="2971800" cy="1170432"/>
          </a:xfrm>
          <a:prstGeom prst="roundRect">
            <a:avLst>
              <a:gd name="adj" fmla="val 4688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44368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主パーソナライズ軸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94760" y="2944368"/>
            <a:ext cx="3200400" cy="1170432"/>
          </a:xfrm>
          <a:prstGeom prst="roundRect">
            <a:avLst>
              <a:gd name="adj" fmla="val 468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2944368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022592" y="2944368"/>
            <a:ext cx="292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0" y="2944368"/>
            <a:ext cx="4206240" cy="1170432"/>
          </a:xfrm>
          <a:prstGeom prst="roundRect">
            <a:avLst>
              <a:gd name="adj" fmla="val 468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2944368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出発地 × 旅の経験値（MBTIは「語り口」へ）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15968"/>
            <a:ext cx="2971800" cy="1170432"/>
          </a:xfrm>
          <a:prstGeom prst="roundRect">
            <a:avLst>
              <a:gd name="adj" fmla="val 4688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315968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体験の形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94760" y="4315968"/>
            <a:ext cx="3200400" cy="1170432"/>
          </a:xfrm>
          <a:prstGeom prst="roundRect">
            <a:avLst>
              <a:gd name="adj" fmla="val 468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3360" y="4315968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 → 生成 → 受け取る（単発）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4315968"/>
            <a:ext cx="292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0" y="4315968"/>
            <a:ext cx="4206240" cy="1170432"/>
          </a:xfrm>
          <a:prstGeom prst="roundRect">
            <a:avLst>
              <a:gd name="adj" fmla="val 468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43800" y="4315968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旅程が出発まで“育ち”、現地で寄り添う（時間軸型）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変えた理由：7つの声はどれも「目的地の情報が足りない」ではなく「自分のいつもと、どれだけ違うのか分からない」だった。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メンバーから出た、7つの生の声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v1の原体験（計画が得意な友人におまかせした旅が一番楽しかった）に続く、二度目の素材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82496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6642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服装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「着ていく服が何が良いか困る。自宅・出発地の気候と目的地の気候の差、天気予報も考慮してほしい」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9976" y="1481328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682496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6642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治安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121408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「出発地付近の治安と、目的地の治安の“差”を教えてほしい」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9872" y="1481328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82496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14816" y="16642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時差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121408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「出発地との時差、その差がどう効くのかを教えてほしい」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99923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200400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3182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アメニティ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639312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「ホテルに無いものを全部知りたい。持っていけないなら現地のどこで買えるかも」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9976" y="299923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3200400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81144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3182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水・氷・お茶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3639312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「ホテルにあるか。それは部屋の中か、館内か、までも知りたい」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19872" y="299923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200400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14816" y="3182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経験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3639312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「初海外か？ 海外は行ったが初めての国か？ 久しぶりか？」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517136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" y="4718304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248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35024" y="47000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現地限定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" y="5157216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「出発地には無く、海外にしかないものを全部ピックアップしてほしい」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79976" y="4517136"/>
            <a:ext cx="7260336" cy="1298448"/>
          </a:xfrm>
          <a:prstGeom prst="roundRect">
            <a:avLst>
              <a:gd name="adj" fmla="val 4225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54296" y="4517136"/>
            <a:ext cx="6711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この7つを一列に並べた時に、共通の構造が見えた。 →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中核インサイト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7つの声は、すべて「差分」の話だった。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服装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1488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出発地の体感温度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148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目的地の体感温度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334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治安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6334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日常の安全基準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6334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6334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現地の安全基準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181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時差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1181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自分の生活リズム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11810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311810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現地時間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027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アメニティ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6027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日本のホテルの当たり前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6027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60273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現地のホテル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873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水・氷・お茶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23160" y="40873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日本の生活インフラの常識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40873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0873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現地の部屋・館内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544568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2A3F63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5720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経験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45720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自分が持っている知識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5720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45720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必要な知識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0566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現地限定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423160" y="50566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出発地で入手できるもの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50566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505663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現地にしかないもの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だけは「空間の差」ではなく「その人の中の差」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には、2つの軸がある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⑥だけは種類が違う。この2軸で「何を伝えるか」と「どこまで細かく伝えるか」の両方が決まる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376672" cy="3063240"/>
          </a:xfrm>
          <a:prstGeom prst="roundRect">
            <a:avLst>
              <a:gd name="adj" fmla="val 1791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28800"/>
            <a:ext cx="658368" cy="65836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9842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DELTA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空間デルタ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76148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出発地（あなたの日常）と、目的地の差。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38328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何を伝えるか を決める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93192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 ①②③④⑤⑦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2200" y="1536192"/>
            <a:ext cx="5376672" cy="3063240"/>
          </a:xfrm>
          <a:prstGeom prst="roundRect">
            <a:avLst>
              <a:gd name="adj" fmla="val 1791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828800"/>
            <a:ext cx="658368" cy="658368"/>
          </a:xfrm>
          <a:prstGeom prst="ellipse">
            <a:avLst/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9842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6092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DELTA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360920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経験デルタ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276148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あなたが持っている知識と、必要な知識の差。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492240" y="338328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どこまで細かく伝えるか を決める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492240" y="393192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 ⑥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0080" y="4828032"/>
            <a:ext cx="10908792" cy="960120"/>
          </a:xfrm>
          <a:prstGeom prst="roundRect">
            <a:avLst>
              <a:gd name="adj" fmla="val 5714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0120" y="4828032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伏線：既存スキルの「トイレットペーパーを流せるか？（ただし目的地が日本なら聞かない）」は、すでにDelta思想そのものだった。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なぜ差分が差別化になるのか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同じデータでも、基準点が「あなた」になった瞬間、情報が“判断”に変わる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783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既存の旅行情報サービス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0848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絶対値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「サンフランシスコの明日の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最高気温は 18℃ です」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4564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検索すれば出る。誰でも出せる。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25312" y="1600200"/>
            <a:ext cx="411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82512" y="1600200"/>
            <a:ext cx="5166360" cy="2286000"/>
          </a:xfrm>
          <a:prstGeom prst="roundRect">
            <a:avLst>
              <a:gd name="adj" fmla="val 2400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783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Omakase Travel Planner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084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差分（Delta）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「出発日の川崎は31℃、到着日のSFは18℃。13℃下がります。朝夕11℃は、川崎の11月上旬と同じ体感です」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4930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出発地・生活習慣・経験値を知る者にしか出せない。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10908792" cy="1371600"/>
          </a:xfrm>
          <a:prstGeom prst="roundRect">
            <a:avLst>
              <a:gd name="adj" fmla="val 4000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66344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691640" y="42062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検索エンジンには原理的にできない。「あなたの基準点」を持てるのは、旅の文脈を持つエージェントだけ。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コンセプト：Omakase × Omotenashi × Delta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細かく入力しない。それでも、聞かれる前に、あなたの基準で用意されている。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3703320"/>
          </a:xfrm>
          <a:prstGeom prst="roundRect">
            <a:avLst>
              <a:gd name="adj" fmla="val 155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74520"/>
            <a:ext cx="603504" cy="603504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208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265176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OMAKASE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926080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おまかせ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61188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入力するのはMBTI・都市・期間・同行者・旅の経験値など最小限。細部の判断はAIに委ねる、寿司屋の「おまかせ」と同じ体験。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3520440" cy="3703320"/>
          </a:xfrm>
          <a:prstGeom prst="roundRect">
            <a:avLst>
              <a:gd name="adj" fmla="val 155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6008" y="1874520"/>
            <a:ext cx="603504" cy="603504"/>
          </a:xfrm>
          <a:prstGeom prst="ellipse">
            <a:avLst/>
          </a:prstGeom>
          <a:solidFill>
            <a:srgbClr val="3E4657"/>
          </a:solidFill>
          <a:ln w="12700">
            <a:solidFill>
              <a:srgbClr val="3E465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0208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6008" y="265176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OMOTENASHI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636008" y="2926080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4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おもてなし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4636008" y="361188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天気、治安、移動手段の裏ワザ、お土産の選び方——聞かれる前に、先回りして提案する。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520440" cy="3703320"/>
          </a:xfrm>
          <a:prstGeom prst="roundRect">
            <a:avLst>
              <a:gd name="adj" fmla="val 155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39328" y="1874520"/>
            <a:ext cx="603504" cy="603504"/>
          </a:xfrm>
          <a:prstGeom prst="ellipse">
            <a:avLst/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02082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39328" y="265176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339328" y="2926080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差分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339328" y="361188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あなたの日常を基準に、目的地との差だけを届ける。絶対値ではなく相対値。ここが v2 の新しい柱。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は Omakase の副作用でもある：出発地さえ分かれば、気候・時差・治安・通貨・電圧は聞かずに取得できる。＝ 質問がさらに減る。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「驚き」を定義しておく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7つの声が求めているのは、サプライズ演出ではなく “そこまで調べてくれてたの？” という周到さへの驚き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6479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自分基準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31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出発地・生活習慣・経験値を踏まえている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欠けると：ただの一般論。「知ってる」で終わる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78308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176479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行動可能な粒度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331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「◯◯を持つ」「◯時に」「徒歩3分の△△で」まで具体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欠けると：気をつけようで終わり、行動が変わらない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78308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176479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届くタイミング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331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必要になる直前に届く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欠けると：荷造りの日には忘れている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10908792" cy="1417320"/>
          </a:xfrm>
          <a:prstGeom prst="roundRect">
            <a:avLst>
              <a:gd name="adj" fmla="val 3871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4297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3つ全部そろって、はじめて人は驚く。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73659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ここを取り違えると、開発は「奇抜なスポット探し」に向かい、7つの声には1つも応えられない。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驚かない例 ↔ 驚く例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この右列こそが、プロダクトの出力仕様そのもの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2801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驚かない（一般論）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80760" y="1280160"/>
            <a:ext cx="5468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驚く（自分基準 ＋ 行動 ＋ タイミング）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74520" y="1645920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1645920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朝晩は冷えるので上着を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645920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645920"/>
            <a:ext cx="5102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朝の体感は川崎の11月上旬。空港で脱げるよう機内は薄手＋現地で羽織る構成に。到着日22:00が最低気温です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78608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治安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874520" y="2578608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257860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スリに注意しましょう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2578608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2578608"/>
            <a:ext cx="5102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日本ではやるが現地ではやらない行動：①歩きスマホ ②リュックを背負ったまま乗車 ③席に荷物を置いて席取り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11296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アメニティ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874520" y="3511296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57400" y="3511296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歯ブラシは無い場合があります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3511296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511296"/>
            <a:ext cx="5102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歯ブラシ・スリッパはありません。到着22:40、徒歩3分の店は24時まで営業なので間に合います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43984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水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874520" y="4443984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57400" y="4443984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水道水は飲用可です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4443984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4443984"/>
            <a:ext cx="5102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部屋の水2本は有料($8/本)。無料の製氷機は7階廊下。緑茶は無いのでティーバッグ持参推奨、ケトルはあります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376672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お土産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874520" y="5376672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57400" y="5376672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現地のお土産が人気です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5376672"/>
            <a:ext cx="5468112" cy="841248"/>
          </a:xfrm>
          <a:prstGeom prst="roundRect">
            <a:avLst>
              <a:gd name="adj" fmla="val 6522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5376672"/>
            <a:ext cx="5102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これは日本のカルディで買えます（買わなくて良い）／これは現地限定。液体なので受託手荷物へ。残容量的にあと2本が上限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ペルソナ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MBTIではなく「旅の経験値 × 同行者 × 目的」で切る（理由は後述）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57276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あかり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94767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27歳・事務職・神奈川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432304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初海外・不安先行型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346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03580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友人2人とソウル 2泊3日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47472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一番の困り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67588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「何が分からないのかが分からない」。持ち物リストを見ても自分に必要か判断できない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4348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失敗した時の感情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636008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恥ずかしさ / 罪悪感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93776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刺さる瞬間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513892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90→30→7→前日のTODOが、今やることだけ見せてくれた時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561441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効くDelta：⑥経験・①服装・④持ち物・②治安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3400" y="1481328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1481328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3E4657"/>
          </a:solidFill>
          <a:ln w="12700">
            <a:solidFill>
              <a:srgbClr val="3E46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99432" y="157276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健太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194767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38歳・メーカー・4人家族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2432304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久しぶり・家族型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28346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303580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ハワイ 4泊6日（前回は2018年）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99432" y="347472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一番の困り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599432" y="367588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海外慣れしていたつもりが「前回から何が変わったか」が分からない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4348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失敗した時の感情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636008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頼りない父になる怖れ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493776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刺さる瞬間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99432" y="513892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「2018年から変わったこと5選」が聞く前に出た時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99432" y="561441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効くDelta：⑥経験・③時差・④⑤持ち物と水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1481328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1481328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02752" y="157276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悠介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8302752" y="194767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34歳・エンジニア・単独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302752" y="2432304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その国が初・出張型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302752" y="28346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302752" y="303580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SF出張＋週末を個人旅行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302752" y="347472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一番の困り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8302752" y="367588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一般的な海外Tipsは不要。米国／SF固有だけ欲しい。到着日に会議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302752" y="44348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失敗した時の感情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8302752" y="4636008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時間を無駄にした苛立ち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302752" y="493776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刺さる瞬間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302752" y="513892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冗長な説明が全部畳まれ「知らない可能性が高い5点」だけ開いた時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302752" y="561441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効くDelta：⑥経験・③時差・②治安・⑦現地限定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61447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補助ペルソナ：みなみ（29歳・幹事役）＝ v1の原体験そのもの。調べる前から疲れている。Delta群は「丸投げしても大丈夫」の根拠になる。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カスタマージャーニー：共通5フェーズ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どのペルソナも同じ道を通る。感情のピークは「備える」フェーズ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93976" cy="3566160"/>
          </a:xfrm>
          <a:prstGeom prst="roundRect">
            <a:avLst>
              <a:gd name="adj" fmla="val 262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1907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決める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60〜30日前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1728216" cy="0"/>
          </a:xfrm>
          <a:prstGeom prst="line">
            <a:avLst/>
          </a:prstGeom>
          <a:noFill/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78608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困り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9806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相場感がない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判断軸がない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2569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期待＋漠然とした不安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52928" y="1554480"/>
            <a:ext cx="2093976" cy="3566160"/>
          </a:xfrm>
          <a:prstGeom prst="roundRect">
            <a:avLst>
              <a:gd name="adj" fmla="val 2620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35808" y="171907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備える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35808" y="210312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30〜7日前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35808" y="2487168"/>
            <a:ext cx="1728216" cy="0"/>
          </a:xfrm>
          <a:prstGeom prst="line">
            <a:avLst/>
          </a:prstGeom>
          <a:noFill/>
          <a:ln w="12700">
            <a:solidFill>
              <a:srgbClr val="E4DF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35808" y="2578608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困り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279806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調べる量が多すぎる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抜け漏れが怖い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035808" y="420624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035808" y="442569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不安のピーク・疲労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65776" y="1554480"/>
            <a:ext cx="2093976" cy="3566160"/>
          </a:xfrm>
          <a:prstGeom prst="roundRect">
            <a:avLst>
              <a:gd name="adj" fmla="val 262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48656" y="171907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直前・移動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210312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前日〜当日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48656" y="2487168"/>
            <a:ext cx="1728216" cy="0"/>
          </a:xfrm>
          <a:prstGeom prst="line">
            <a:avLst/>
          </a:prstGeom>
          <a:noFill/>
          <a:ln w="12700">
            <a:solidFill>
              <a:srgbClr val="E4DF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48656" y="2578608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困り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248656" y="279806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今日何を着るか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これ入れたっけ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248656" y="420624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248656" y="442569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焦り・確認強迫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78624" y="1554480"/>
            <a:ext cx="2093976" cy="3566160"/>
          </a:xfrm>
          <a:prstGeom prst="roundRect">
            <a:avLst>
              <a:gd name="adj" fmla="val 262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61504" y="171907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現地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61504" y="210312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滞在中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61504" y="2487168"/>
            <a:ext cx="1728216" cy="0"/>
          </a:xfrm>
          <a:prstGeom prst="line">
            <a:avLst/>
          </a:prstGeom>
          <a:noFill/>
          <a:ln w="12700">
            <a:solidFill>
              <a:srgbClr val="E4DFD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61504" y="2578608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困り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461504" y="279806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水どこ / これ買っていい？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夜この道は大丈夫？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461504" y="420624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7461504" y="442569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楽しさ＋瞬間的な不安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91472" y="1554480"/>
            <a:ext cx="2093976" cy="3566160"/>
          </a:xfrm>
          <a:prstGeom prst="roundRect">
            <a:avLst>
              <a:gd name="adj" fmla="val 2620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74352" y="171907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帰る／帰った後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674352" y="210312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帰国前日〜後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674352" y="2487168"/>
            <a:ext cx="1728216" cy="0"/>
          </a:xfrm>
          <a:prstGeom prst="line">
            <a:avLst/>
          </a:prstGeom>
          <a:noFill/>
          <a:ln w="12700">
            <a:solidFill>
              <a:srgbClr val="E4DFD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74352" y="2578608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困り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9674352" y="2798064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あれ買い忘れた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明日の仕事つらい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674352" y="420624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9674352" y="4425696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後悔 or 満足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0120" y="5349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が価値を届けられているのは P1〜P2 の一部だけ。次のページでその穴を示す。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【指摘】困りの7つ中6つは、旅程を受け取った“後”に起きる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「入力→生成→受け取る」の単発型では、価値の大半が構造的に届かない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困り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371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実際に発生するタイミング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v1の提供タイミング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64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服装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6642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出発前日〜当日の朝（荷造り／着替え）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642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旅程作成時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84832"/>
            <a:ext cx="1090879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121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治安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1214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現地の、その通りを歩く直前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1214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旅程作成時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42032"/>
            <a:ext cx="1090879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578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時差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5786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出発3日前（事前順応）＋ 到着直後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5786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旅程作成時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999232"/>
            <a:ext cx="1090879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アメニティ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0358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荷造りの日 ＋ 到着直後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30358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旅程作成時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456432"/>
            <a:ext cx="1090879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493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水・氷・お茶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34930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チェックイン後30分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34930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旅程作成時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913632"/>
            <a:ext cx="1090879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950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経験レベル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926080" y="39502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準備期間の全体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39502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旅程作成時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370832"/>
            <a:ext cx="1090879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407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現地限定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926080" y="44074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現地の買い物中 ＋ 帰国前日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4074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旅程作成時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828032"/>
            <a:ext cx="10908792" cy="0"/>
          </a:xfrm>
          <a:prstGeom prst="line">
            <a:avLst/>
          </a:prstGeom>
          <a:noFill/>
          <a:ln w="9525">
            <a:solidFill>
              <a:srgbClr val="E4DF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02920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367528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645920" y="502920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さらに物理制約：週間天気予報は7日先まで、2週間気温予報でも8〜12日先が5日平均。旅程作成時に服装を確定するのは、そもそも不可能（気象庁）。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体験の再設計：3ステップ → 4フェーズ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旅程は「作って終わり」ではなく、出発まで育ち、現地で寄り添う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28800"/>
            <a:ext cx="566928" cy="56692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659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DF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54203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278892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つくる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33756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最小入力で旅程を生成。この時点のDeltaは「平年値ベース・暫定」と明示する。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246120" y="1572768"/>
            <a:ext cx="1463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92424" y="1572768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48456" y="1828800"/>
            <a:ext cx="566928" cy="566928"/>
          </a:xfrm>
          <a:prstGeom prst="ellipse">
            <a:avLst/>
          </a:prstGeom>
          <a:solidFill>
            <a:srgbClr val="3E4657"/>
          </a:solidFill>
          <a:ln w="12700">
            <a:solidFill>
              <a:srgbClr val="3E465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196596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2122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DF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3648456" y="254203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3648456" y="278892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4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育つ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3648456" y="333756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出発までAIが裏で更新し続ける。予報が出た7日前に服装が確定。更新は通知で届く。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998464" y="1572768"/>
            <a:ext cx="1463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144768" y="1572768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0" y="182880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6596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97356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DF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19"/>
          <p:cNvSpPr txBox="1"/>
          <p:nvPr/>
        </p:nvSpPr>
        <p:spPr>
          <a:xfrm>
            <a:off x="6400800" y="254203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BRIEF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0" y="278892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送り出す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0" y="333756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出発前夜、1枚に全部まとまる。明日着る服／持ち物の最終差分／到着後の最初の30分。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8750808" y="1572768"/>
            <a:ext cx="1463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897112" y="1572768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153144" y="1828800"/>
            <a:ext cx="566928" cy="566928"/>
          </a:xfrm>
          <a:prstGeom prst="ellipse">
            <a:avLst/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965960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72591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DF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2" name="Text 26"/>
          <p:cNvSpPr txBox="1"/>
          <p:nvPr/>
        </p:nvSpPr>
        <p:spPr>
          <a:xfrm>
            <a:off x="9153144" y="254203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9153144" y="278892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寄り添う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9153144" y="333756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現地で、その場面の直前に必要な分だけ。夜道の警告、買い忘れ、帰国後の時差戻し。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40080" y="4983480"/>
            <a:ext cx="10908792" cy="1097280"/>
          </a:xfrm>
          <a:prstGeom prst="roundRect">
            <a:avLst>
              <a:gd name="adj" fmla="val 5000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960120" y="49834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の「贈り物を開けるように画面へ登場」というメタファーは、フェーズ3（出発前夜のFinal Brief）に置くと最も効く。一番不安な前夜に開く箱。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7つの Delta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以降、1テーマずつ「困り → できると良いこと → 驚き」で分解する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A3F63"/>
          </a:solidFill>
          <a:ln w="12700">
            <a:solidFill>
              <a:srgbClr val="3C55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29384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31720" y="18928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85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40487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気候デルタ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75234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服装が決まらない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27523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92424" y="16916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A3F63"/>
          </a:solidFill>
          <a:ln w="12700">
            <a:solidFill>
              <a:srgbClr val="3C557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92938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84064" y="18928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85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648456" y="240487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安全デルタ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648456" y="275234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治安がピンとこない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084064" y="27523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44768" y="16916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A3F63"/>
          </a:solidFill>
          <a:ln w="12700">
            <a:solidFill>
              <a:srgbClr val="3C557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938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836408" y="18928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85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Δ3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240487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時間デルタ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275234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時差で体がどうなるか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836408" y="27523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897112" y="16916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A3F63"/>
          </a:solidFill>
          <a:ln w="12700">
            <a:solidFill>
              <a:srgbClr val="3C557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144" y="192938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588752" y="18928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85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Δ4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153144" y="240487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持ち物デルタ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153144" y="275234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ホテルに何が無いのか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0588752" y="27523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347472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A3F63"/>
          </a:solidFill>
          <a:ln w="12700">
            <a:solidFill>
              <a:srgbClr val="3C557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712464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2331720" y="36758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85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Δ5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96112" y="418795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生活デルタ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896112" y="453542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水・氷・お茶はどこに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2331720" y="45354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392424" y="347472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A3F63"/>
          </a:solidFill>
          <a:ln w="12700">
            <a:solidFill>
              <a:srgbClr val="3C557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3712464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084064" y="36758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85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Δ6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3648456" y="418795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経験デルタ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3648456" y="453542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情報の粒度が合わない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5084064" y="45354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144768" y="347472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A3F63"/>
          </a:solidFill>
          <a:ln w="12700">
            <a:solidFill>
              <a:srgbClr val="3C557F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712464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836408" y="36758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85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Δ7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6400800" y="418795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希少性デルタ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6400800" y="453542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現地にしかないもの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7836408" y="45354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8897112" y="347472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1E2F4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9153144" y="3474720"/>
            <a:ext cx="20939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ハッカソン優先度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530352" cy="530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29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40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気候デルタ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7432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「着ていく服が何が良いか困る。出発地の気候と目的地の気候の差、天気予報も考慮してほしい」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914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ハッカソン優先度  ★★★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深層の困り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9019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服装の失敗は取り返しがつかない。しかも「家を出る時の服」と「現地の服」を同時に成立させ、かつ荷物は減らしたい。この三重の制約が、一人で解くには重すぎる。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 できると良いこと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出発地と目的地の予報を「並べて」取得し、差を出す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気温だけでなく体感（湿度・風速・日射・朝晩の寒暖差）で比較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日別 × 時間帯別（朝／昼／夜）に分解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雨具の要否、靴の種類（石畳・坂・雪・砂）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屋内外の空調差、ドレスコード（宗教施設・高級店）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「スーツケースに入れる服」と「当日着ていく服」を分けて提示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5352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9672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 驚き ─ ここまでやると驚く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19672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「川崎の11月上旬と同じ体感です」変換 ─ 身体で覚えている日で説明する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移動中の脱ぎ着タイミング指示 ─ 服装を点ではなく線で扱う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現地の人の“実際の服装” ─ 同じ気温でも現地はもう1枚多い（SNS・ライブカメラ）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手持ちの服からの提案／入らない場合は現地調達・レンタル案を金額付きで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7日前の自動確定通知 ─「予報が出ました。暫定案から2℃下振れ」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7607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データ源：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気象庁・予報API・平年値DB・現地SNSの位置タグ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1675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難所： </a:t>
            </a:r>
            <a:pPr indent="0" marL="0">
              <a:buNone/>
            </a:pPr>
            <a:r>
              <a:rPr lang="en-US" sz="9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出発1ヶ月前は予報が存在しない → 平年値＋振れ幅で暫定提示し、7日前に自動再計算する二段構えが必須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530352" cy="530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29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40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安全デルタ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7432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「出発地付近の治安と、目的地の治安の“差”を教えてほしい」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914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ハッカソン優先度  ★★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深層の困り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9019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「年間犯罪◯件」では行動は変わらない。基準がないから、過剰に怖がるか完全に油断するかの二択になる。本当に知りたいのは「日本での自分の振る舞いのうち、どれが現地で危険か」。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 できると良いこと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出発地を基準（=1.0）とした相対的な体感指標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犯罪種別の内訳 ─ 日本人旅行者が実際に遭う類型に絞る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エリア単位 × 時間帯単位（昼は問題ない／22時以降は避ける）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生成した行程の各スポット・各移動に自動で紐付ける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外務省・在外公館・現地警察統計を出典として明示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5352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9672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 驚き ─ ここまでやると驚く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19672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「日本ではやるが現地ではやってはいけない行動」リスト ─ 歩きスマホ／リュックを背負ったまま乗車／席に荷物で席取り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行程への自動介入 ─「Day2 20:30 の徒歩ルートが注意区間。配車に切替えますか（+$12）」と代替案とセットで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地図へのヒートマップ重畳（スリ多発地点を行程ルート上に）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緊急時カードのオフライン化（警察・大使館・現地語フレーズ）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同行者による閾値調整（単独女性／子連れ／高齢の親同伴）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7607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データ源：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外務省 海外安全ホームページ・在外公館・現地警察公開統計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1675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難所： </a:t>
            </a:r>
            <a:pPr indent="0" marL="0">
              <a:buNone/>
            </a:pPr>
            <a:r>
              <a:rPr lang="en-US" sz="9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プロダクト最大のリスク。誤情報は旅行者を危険に晒し、雑な記述は特定地域への差別的表現になる。v1の「一般的な注意喚起として先回りで提示」という控えめな表現は正しい。信頼性ポリシー適用を必須とする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530352" cy="530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29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40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時間デルタ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7432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「出発地との時差、その差がどう効くのかを教えてほしい」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914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ハッカソン優先度  ★★★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深層の困り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9019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知りたいのは時差の数字ではなく「到着初日の行程は体力的に成立するのか」と「家族・職場と連絡が取れる時間帯はいつか」。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 できると良いこと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時差の時間数 ＋ 方向（東回り／西回り）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フライト時刻から睡眠負債を推定し、初日の行程強度を自動で下げる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現地時間と日本時間の併記（連絡可能ウィンドウの可視化）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出発前の事前順応スケジュール（数日かけて就寝時刻をずらす）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到着後に光を浴びるべき／避けるべき時間帯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5352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9672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 驚き ─ ここまでやると驚く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19672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本人の生活リズム基準への変換 ─「普段の起床6:30は現地の22:30。初日の夕食を18:00に前倒ししました」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東回りペナルティの明示 ─ 体内時計は24時間よりわずかに長く、日を“縮める”東回りは回復が遅い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行程表に「日本と話せる時間帯」の帯を表示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仕事の予定の自動変換 ─「日本の火10:00の定例は、現地の月18:00です」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帰国後の“逆時差”回復日を先に確保 ─ P5フェーズへの唯一の先回り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7607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データ源：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タイムゾーンDB・フライトスケジュール・公的機関の解説（CDC等）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1675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難所： </a:t>
            </a:r>
            <a:pPr indent="0" marL="0">
              <a:buNone/>
            </a:pPr>
            <a:r>
              <a:rPr lang="en-US" sz="9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医療助言に踏み込まない線引き。薬剤の推奨はせず、光と生活リズムの一般論に留める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530352" cy="530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29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40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持ち物デルタ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7432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「ホテルに無いものを全部知りたい。持っていけないなら現地のどこで買えるかも」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914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ハッカソン優先度  ★★★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深層の困り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9019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知りたいのは「あるもの」ではなく「無いもの」。日本のホテルの“当たり前”（歯ブラシ・スリッパ・パジャマ・毎日のタオル交換）が海外では軒並み無い。この落差が持ち物リストの正体。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 できると良いこと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公式・予約サイト・口コミ・投稿写真からアメニティを構造化して取得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「日本の標準的なホテル」を基準にした差分リストを生成（ある物一覧ではなく、無い物だけ）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それをそのまま持ち物リストに変換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持っていけないもの（液体量制限・かさばる・現地限定）を判定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現地調達マップ ─ 徒歩◯分のドラッグストア／スーパー／営業時間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5352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9672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 驚き ─ ここまでやると驚く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19672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到着時刻との接続 ─「到着22:40、徒歩3分の店は24時まで営業なので間に合います」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液体物100ml制限の自動チェック（機内持込／受託／現地調達の振り分け）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電源まわり全部 ─ プラグ形状・電圧・ドライヤーのW数（ヘアアイロンが使えない国がある）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洗濯環境と服の枚数の連動 ─「館内にランドリーがあるのでシャツは3枚で足ります」＝Δ1と連携して荷物が減る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生活習慣ギャップ（ウォシュレット無し／湯船無し／紙を流せない）＋ 人数分・子ども用まで自動計算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7607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データ源：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ホテル公式／予約サイトAPI／口コミ・投稿写真からのLLM抽出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1675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難所： </a:t>
            </a:r>
            <a:pPr indent="0" marL="0">
              <a:buNone/>
            </a:pPr>
            <a:r>
              <a:rPr lang="en-US" sz="9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アメニティ情報は変動が激しく、公式に書かれていないことも多い → 確度3段階ラベルを必ず付ける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530352" cy="530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29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40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生活デルタ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7432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「ホテルに水・氷・お茶があるか。それは部屋の中か、館内か、までも知りたい」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914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ハッカソン優先度  ★★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深層の困り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9019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本質は「到着した最初の30分と、夜中に喉が渇いたとき、自分はどう動けばいいのか」。加えて水道水の飲用可否は健康に直結する。Δ4の一部に見えるが、“所在の解像度”を求めている点で別物。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 できると良いこと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水道水の飲用可否（国・都市レベル）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部屋の無料水の本数／日、有料ミネラルウォーターの価格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電気ケトル・ティーバッグ・コーヒー・緑茶の有無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冷蔵庫（空か、ミニバー式で私物が入らないか）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製氷機の所在（部屋／各階廊下／ロビー／無し）と有料無料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5352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9672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 驚き ─ ここまでやると驚く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19672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所在レベルの解像度 ─「氷は7階廊下で無料。部屋の水は1本$8」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日本人固有のニーズ ─「緑茶は無いがケトルはある。ティーバッグ持参を推奨」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飲用不可の都市では徹底 ─「歯磨きもボトル水で」「氷が飲料水製か確認を」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到着後30分のシミュレーション（チェックイン→部屋→まず何をすべきか）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近隣の水の調達先と価格差 ─「ホテル$8／徒歩2分のスーパー$1.2。4本で$27節約」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7607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データ源：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ホテル口コミ・投稿写真（公式にはまず書かれていない）／各国水道水情報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1675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難所： </a:t>
            </a:r>
            <a:pPr indent="0" marL="0">
              <a:buNone/>
            </a:pPr>
            <a:r>
              <a:rPr lang="en-US" sz="9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公式情報がほぼ存在しない。口コミ抽出の精度が全て。ハッカソンでは代表ホテル数件を事前調査し、その旨を正直に説明する方が誠実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530352" cy="530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29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40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経験デルタ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7432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「初海外か？ 海外は行ったが初めての国か？ 前は行ったけど久しぶり？」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914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ハッカソン優先度  ★★★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深層の困り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9019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他の6つと質が違う。機能ではなく、全機能の出力粒度を決める“つまみ”。同じ情報量を全員に出す限り、必ず誰かが不満になる。初心者には前提が抜け、ベテランには釈迦に説法。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 できると良いこと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最初の1問で4段階を取得：①初海外 ②その国が初 ③久しぶり（3年以上）④常連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そのレベルに応じて注釈量・チェックリストの深さ・専門用語の説明を自動調整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初海外モード：パスポート／渡航認証／保険／両替／eSIM／入国審査／税関を全展開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ベテランモード：既知情報を全部畳み、新規情報のみ表示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5352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9672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 驚き ─ ここまでやると驚く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19672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「久しぶり」で “前回からの変更点だけ” が出る ─ ESTAは $21→$40（2025/9/30〜）、CPI連動で $40.27（2026/1〜）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同上 ─ EESが2025/10/12から段階運用、2026/4/10全面実施。ETIASは2026年Q4開始予定＝「まだ申請不要」という“やらなくていい”情報も価値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「その国が初」には、行ったことがある国との差分（「タイには行かれていますね。ベトナムとの違いは3点」）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カウントダウン式TODO（90／30／7／前日）─ 一度に全部見せない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過去の旅程履歴から経験レベルを自動推定 ＝ 聞かずに済ませる（Omakaseの理念に合致）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7607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データ源：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外務省・各国渡航認証の公式サイト・直近ニュース（必ずWeb検索。記憶に頼らない）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1675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難所： </a:t>
            </a:r>
            <a:pPr indent="0" marL="0">
              <a:buNone/>
            </a:pPr>
            <a:r>
              <a:rPr lang="en-US" sz="9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渡航認証制度は変更が頻繁で、ETIASのように開始予定が何度も延期される → 出典URLと確認日を必ず併記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530352" cy="530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29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Δ7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40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希少性デルタ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7432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「出発地には無く、海外にしかないものを全部ピックアップしてほしい（場所・グッズ・お土産・何もかも）」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9144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ハッカソン優先度  ★★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深層の困り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9019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「後悔の予防」。帰ってから知る後悔と、日本でも買えるものを買ってしまった無駄。判断軸は「日本で買えるか」だけなのに、それを教えるサービスが無い。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 できると良いこと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「出発地で入手できるか？」でフィルタしたOnly-Hereリスト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カテゴリ横断で拾う（声は「何もかも」＝限定していない）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食：現地限定メニュー・店舗限定・季節限定 ／ モノ：現地限定フレーバー・現地スーパーの日用品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体験：その時期だけの祭・ライトアップ・開花／場所：その街にしかない光景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サービス：現地固有の交通・文化体験（例：SFのWaymoは日本で乗れない）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逆リスト：日本でも買えるので現地で買わなくていいもの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5352" y="260604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9672" y="2743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 驚き ─ ここまでやると驚く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19672" y="3127248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「日本で買える度」スコアでの並べ替え ─「買わなくていい」を言うサービスは他に無い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持ち帰り制約の自動チェック ─ 液体の機内持込、肉・果物の検疫、免税範囲、残容量と重量で「あと2本が上限」まで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贈る相手による出し分け（v1の「年齢・性別で出し分け」をここに統合）＋ 関係性と予算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帰国前日リマインド ─「未購入は3点。ホテルから徒歩5分の店に全部あります」＝P5を押さえる唯一の機能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観光客向けでない、現地の人が普段使いするスーパーの棚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7607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データ源：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現地EC・小売／日本のEC在庫／税関・検疫の公式情報／SNS・現地ブログ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1675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難所： </a:t>
            </a:r>
            <a:pPr indent="0" marL="0">
              <a:buNone/>
            </a:pPr>
            <a:r>
              <a:rPr lang="en-US" sz="95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「日本で買えるか」の判定コスト。ハッカソンでは代表20品の事前調査で十分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MBTI をどう扱うか（正面から）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7つの意見のうち、MBTIと関係するものは1つも無かった。この事実は正面から扱う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1965960"/>
          </a:xfrm>
          <a:prstGeom prst="roundRect">
            <a:avLst>
              <a:gd name="adj" fmla="val 2791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批判側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再検査で 39〜76% が異なるタイプに分類されるとの報告（Pittenger 2005 を引く解説）。Big Five の再検査信頼性 .80〜.90 と比べ不安定さが際立つ。職務パフォーマンスの予測妥当性も低いとされる。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303520" cy="1965960"/>
          </a:xfrm>
          <a:prstGeom prst="roundRect">
            <a:avLst>
              <a:gd name="adj" fmla="val 2791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擁護側（発行元）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11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4指標の内的整合性は .90 前後、15週までの再検査相関は .80 超であり、信頼性の要件を満たすと反論。学術的な決着はついていない。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10908792" cy="2148840"/>
          </a:xfrm>
          <a:prstGeom prst="roundRect">
            <a:avLst>
              <a:gd name="adj" fmla="val 2553"/>
            </a:avLst>
          </a:prstGeom>
          <a:solidFill>
            <a:srgbClr val="FDF6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8221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提案：MBTI を「根拠」から「語り口」に移す。外す必要はない。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27939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v1：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「INFPのあなたには、人との距離を保てる静けさが合うはずです。」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v2： </a:t>
            </a:r>
            <a:pPr indent="0" marL="0">
              <a:buNone/>
            </a:pPr>
            <a:r>
              <a:rPr lang="en-US" sz="12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「朝いちばんは人が少なく、静かに歩けます。INFPの方には特に相性が良いはずです。」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1206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提案の根拠を「事実（朝は空いている）」に置き、MBTIは共感の一言として後ろに添える。外れてもダメージが無く、当たった時の効果は変わらない。主軸は「経験レベル × 出発地 × 同行者」に。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情報の信頼性ポリシー（新設・必須）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Delta機能群は「調べた情報を断定的に伝える」性質を持つ。誠実さの設計が無いと危険なプロダクトになる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37360"/>
            <a:ext cx="457200" cy="54864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確認済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公式サイト・公的機関で確認（確認日を併記）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7121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表示例：公式（2026/09/10 確認）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536192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737360"/>
            <a:ext cx="4572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874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口コミ由来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286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宿泊者レビュー・投稿写真から抽出。変更の可能性あり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7121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表示例：口コミ（3件で一致）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536192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37360"/>
            <a:ext cx="457200" cy="54864"/>
          </a:xfrm>
          <a:prstGeom prst="rect">
            <a:avLst/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874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未確認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286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見つからなかった。「無い」と断定しない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7121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表示例：到着後にフロントでご確認を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36118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「分からない」と正直に言うことは価値を下げない。むしろ他の情報の信頼性を上げる。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80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治安情報の記述規約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4480560"/>
            <a:ext cx="8439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出典を必ず併記／地域や住民の属性ではなく「行動」と「時間帯」で書く／断定せず「報告があります」と書く／警告は必ず代替案とセットで出す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健康・医療の線引き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5029200"/>
            <a:ext cx="8439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時差対策は光と生活リズムの一般論に留め、薬剤は推奨しない／水の飲用可否は公的情報の引用に留める／アレルギー・持病の判断はしない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577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価格・制度情報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5577840"/>
            <a:ext cx="8439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記憶に頼らず必ずWeb検索で確認（既存スキルの規約をそのまま継承）／全て「推定」と明示し、予約前の再確認を促す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既存スキル（travel-planner）のエッセンス継承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作り込んだ品質基準は全部残す。Delta は上に載せる層であって、置き換えではない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スキルの要素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v2での扱い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3716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変更・拡張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11091672" cy="429768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2763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単一ラウンドで全部聞く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276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維持。ただし質問はさらに削る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6276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Δ6を1問追加、気候・時差・治安は聞かずに自動取得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57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紙を流せるか（日本なら聞かない）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057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Delta原則の原型として昇格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0574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Δ4/Δ5に統合し、「日本の常識との差」全般に一般化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11091672" cy="429768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48716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3〜7パターン（必ずClassic Highlights）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4871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48716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既定は1案表示＋「他の案を見る」で展開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1693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時刻付きタイムライン＋10〜20分バッファ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9169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維持（必須要件）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91693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Δ3の時差負荷を反映して初日の強度を自動調整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28416"/>
            <a:ext cx="11091672" cy="429768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3467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朝食・昼食・夕食を必ず時刻付きで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3467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34670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7764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Day2以降は9:00以降出発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7764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77647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Δ3と統合。時差で早朝覚醒する場合の例外ロジック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87952"/>
            <a:ext cx="11091672" cy="429768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2062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全スポットにリンク必須／交通費は実額検索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42062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維持（必須要件）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42062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確度ラベルを追加。Δ7の現地固有の移動手段を選択肢に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6360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Mapsルート・Instagram調査・クーポン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46360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46360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Δ1（現地の人の服装）Δ7（Only-Here）の主要データ源に再活用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047488"/>
            <a:ext cx="11091672" cy="429768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0657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Notion保存 ／ レストラン5件以上＋予約可否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506577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50657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Brief・現地フェーズの配信先としても活用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5541264"/>
            <a:ext cx="10908792" cy="713232"/>
          </a:xfrm>
          <a:prstGeom prst="roundRect">
            <a:avLst>
              <a:gd name="adj" fmla="val 7692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5541264"/>
            <a:ext cx="10360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解くべき矛盾：「Omakase＝最小入力」 vs 「スキル＝9問一括ヒアリング」→ ①出発地から自動取得して聞かずに済ませる ②1画面1ラウンドに閉じる（負荷の正体は質問数ではなく往復回数）③推定して後から直せるようにする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ハッカソン MVP スコープとデモ設計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全部やらない。「聞いていないのに出てくる」瞬間を3回つくる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やる（Must）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Δ1 気候：「川崎の11月と同じ体感」変換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Δ3 時差：初日の行程強度を自動調整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Δ6 経験：3モード切替と“変更点差分”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確度ラベルの表示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43400" y="1536192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6916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やる（Should）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1031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Δ4 持ち物：無いものリスト＋現地調達マップ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Δ7 Only-Here：日本で買える度スコア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Brief 画面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536192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やらない（今回）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1031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Δ2 治安の地図ヒートマップ（テキスト警告のみ）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Δ5 の全ホテル自動対応（数件を事前調査）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現地フェーズのプッシュ通知（画面モックのみ）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4048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デモシナリオ（90秒）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2245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22452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入力：MBTI・SF・3日・単独・「その国が初めて」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62686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462686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生成中、裏で「川崎の天気」も取りに行っているのを見せる ← 仕掛け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029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50292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Deltaサマリ：気温−13℃／時差−16h／治安の行動注意3点／歯ブラシ無し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431536"/>
            <a:ext cx="384048" cy="384048"/>
          </a:xfrm>
          <a:prstGeom prst="ellipse">
            <a:avLst/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4315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783080" y="543153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「川崎の11月上旬と同じ体感です」の一行 ← 一番の見せ場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833872"/>
            <a:ext cx="384048" cy="384048"/>
          </a:xfrm>
          <a:prstGeom prst="ellipse">
            <a:avLst/>
          </a:prstGeom>
          <a:solidFill>
            <a:srgbClr val="D64933"/>
          </a:solidFill>
          <a:ln w="12700">
            <a:solidFill>
              <a:srgbClr val="D649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833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58338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783080" y="58338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「久しぶり」に切替えると ESTA $21→$40 の変更点が出現 ← 二番目の見せ場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6236208"/>
            <a:ext cx="384048" cy="384048"/>
          </a:xfrm>
          <a:prstGeom prst="ellipse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6236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62362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783080" y="62362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Brief（出発前夜に届く1枚）を見せて締める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得意な人の“おまかせ”を、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みんなの旅に。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その“おまかせ”の正体は、あなたの日常を基準にした差分だった。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今日のゴール：動くデモ ＋ 30秒で伝わるプレゼン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Omakase Travel Planner  ·  Concept v2  ·  2026.09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Appendix：出典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制度・料金は変更が頻繁。実装時は必ず再確認（確認日：2026年9月10日）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1091672" cy="54864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気象庁「2週間気温予報」と「早期天候情報」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508760"/>
            <a:ext cx="6291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https://www.jma.go.jp/jma/kishou/know/kurashi/twoweek.html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ETIAS 導入時期（2026年Q4予定）／EES 段階運用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2057400"/>
            <a:ext cx="6291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https://www.amnet-jpn.com/etias/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91672" cy="54864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0604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ETIAS 解説（申請受付はまだ開始されていない）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606040"/>
            <a:ext cx="6291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https://www.trifa.co/ja/column/preparation-tips-travel/europe-etias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5468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申請料 $21→$40（2025/9/30〜）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3154680"/>
            <a:ext cx="6291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https://www.arukikata.co.jp/webmagazine/334139/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1091672" cy="54864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033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CPI連動で $40.27（2026/1/1〜）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703320"/>
            <a:ext cx="6291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https://www.trifa.co/ja/column/preparation-tips-travel/esta-price-increase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519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時差ボケの方向差（東回りが重い理由）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4251960"/>
            <a:ext cx="6291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https://www.timeshifter.com/jet-lag/is-jet-lag-worse-going-east-or-west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782312"/>
            <a:ext cx="11091672" cy="548640"/>
          </a:xfrm>
          <a:prstGeom prst="rect">
            <a:avLst/>
          </a:prstGeom>
          <a:solidFill>
            <a:srgbClr val="FBFAF8"/>
          </a:solidFill>
          <a:ln w="12700">
            <a:solidFill>
              <a:srgbClr val="FBFA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8006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 批判側の整理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4800600"/>
            <a:ext cx="6291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https://www.earlyyears.tv/mbti-framework-critical-analysis/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34924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 擁護側（発行元の見解）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5349240"/>
            <a:ext cx="6291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https://ap.themyersbriggs.com/themyersbriggs-mbti-facts.aspx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本スライドは詳細版ドキュメント（Omakase_Travel_Planner_詳細設計_v2.md）の要約。全機能仕様・ペルソナ詳細・ジャーニー全表はそちらを参照。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Omakase Travel Planner — Concept v2</dc:title>
  <dc:subject>PptxGenJS Presentation</dc:subject>
  <dc:creator>Omakase Travel Planner Team</dc:creator>
  <cp:lastModifiedBy>Omakase Travel Planner Team</cp:lastModifiedBy>
  <cp:revision>1</cp:revision>
  <dcterms:created xsi:type="dcterms:W3CDTF">2026-09-10T21:53:01Z</dcterms:created>
  <dcterms:modified xsi:type="dcterms:W3CDTF">2026-09-10T21:53:01Z</dcterms:modified>
</cp:coreProperties>
</file>