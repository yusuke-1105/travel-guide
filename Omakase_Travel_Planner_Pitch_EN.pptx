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</p:sldIdLst>
  <p:notesMasterIdLst>
    <p:notesMasterId r:id="rId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5" Type="http://schemas.openxmlformats.org/officeDocument/2006/relationships/presProps" Target="presProps.xml"/><Relationship Id="rId6" Type="http://schemas.openxmlformats.org/officeDocument/2006/relationships/viewProps" Target="viewProps.xml"/><Relationship Id="rId7" Type="http://schemas.openxmlformats.org/officeDocument/2006/relationships/theme" Target="theme/theme1.xml"/><Relationship Id="rId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30-second pitch: Planning a trip means drowning in research before you even leave, and the recommendations you find are written for everybody, so you cannot tell whether they fit you. Filling in a long preference form is not the answer either — nobody finishes those. Omakase Travel Planner infers your taste from your MBTI type and fills that form in for you. Four inputs: your type, where you leave from, where you are going, and one line about what you want. You get back a full itinerary, a map, and a reason for every choice.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Demo narration: We gave it four things — ENFP, Tokyo, San Francisco, and one line: meet locals, keep it loose. Now look at what it did NOT do. It did not fill the day. Four fixed points, and 16:30 is deliberately empty, because a packed schedule is exactly what an ENFP resents. And the Friday anchor is a real dated event — the Fort Mason Night Market only runs on selected Fridays — so this plan could not be copy-pasted onto another day, or onto another personality type.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5274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777240" y="56692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OMAKASE TRAVEL PLANNER</a:t>
            </a:r>
            <a:endParaRPr lang="en-US" sz="1100" dirty="0"/>
          </a:p>
        </p:txBody>
      </p:sp>
      <p:sp>
        <p:nvSpPr>
          <p:cNvPr id="4" name="Text 1"/>
          <p:cNvSpPr txBox="1"/>
          <p:nvPr/>
        </p:nvSpPr>
        <p:spPr>
          <a:xfrm>
            <a:off x="777240" y="1042416"/>
            <a:ext cx="576072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4000"/>
              </a:lnSpc>
              <a:buNone/>
            </a:pPr>
            <a:r>
              <a:rPr lang="en-US" sz="4000" b="1" dirty="0">
                <a:solidFill>
                  <a:srgbClr val="F4EFE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Your personality type,</a:t>
            </a:r>
            <a:endParaRPr lang="en-US" sz="4000" dirty="0"/>
          </a:p>
          <a:p>
            <a:pPr indent="0" marL="0">
              <a:lnSpc>
                <a:spcPct val="114000"/>
              </a:lnSpc>
              <a:buNone/>
            </a:pPr>
            <a:r>
              <a:rPr lang="en-US" sz="4000" b="1" dirty="0">
                <a:solidFill>
                  <a:srgbClr val="F4EFE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turned into an itinerary.</a:t>
            </a:r>
            <a:endParaRPr lang="en-US" sz="4000" dirty="0"/>
          </a:p>
        </p:txBody>
      </p:sp>
      <p:sp>
        <p:nvSpPr>
          <p:cNvPr id="5" name="Text 2"/>
          <p:cNvSpPr txBox="1"/>
          <p:nvPr/>
        </p:nvSpPr>
        <p:spPr>
          <a:xfrm>
            <a:off x="777240" y="2852928"/>
            <a:ext cx="54406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450" dirty="0">
                <a:solidFill>
                  <a:srgbClr val="C9CF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Tell it four things. Get back a complete trip — the map already drawn, and a reason behind every single stop.</a:t>
            </a:r>
            <a:endParaRPr lang="en-US" sz="1450" dirty="0"/>
          </a:p>
        </p:txBody>
      </p:sp>
      <p:sp>
        <p:nvSpPr>
          <p:cNvPr id="6" name="Shape 3"/>
          <p:cNvSpPr/>
          <p:nvPr/>
        </p:nvSpPr>
        <p:spPr>
          <a:xfrm>
            <a:off x="777240" y="3712464"/>
            <a:ext cx="5440680" cy="0"/>
          </a:xfrm>
          <a:prstGeom prst="line">
            <a:avLst/>
          </a:prstGeom>
          <a:noFill/>
          <a:ln w="12700">
            <a:solidFill>
              <a:srgbClr val="3A5075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777240" y="3950208"/>
            <a:ext cx="502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C9A2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</a:t>
            </a:r>
            <a:endParaRPr lang="en-US" sz="1500" dirty="0"/>
          </a:p>
        </p:txBody>
      </p:sp>
      <p:sp>
        <p:nvSpPr>
          <p:cNvPr id="8" name="Text 5"/>
          <p:cNvSpPr txBox="1"/>
          <p:nvPr/>
        </p:nvSpPr>
        <p:spPr>
          <a:xfrm>
            <a:off x="1344168" y="3950208"/>
            <a:ext cx="48463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4EFE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Too much to research</a:t>
            </a:r>
            <a:endParaRPr lang="en-US" sz="1500" dirty="0"/>
          </a:p>
        </p:txBody>
      </p:sp>
      <p:sp>
        <p:nvSpPr>
          <p:cNvPr id="9" name="Text 6"/>
          <p:cNvSpPr txBox="1"/>
          <p:nvPr/>
        </p:nvSpPr>
        <p:spPr>
          <a:xfrm>
            <a:off x="1344168" y="4251960"/>
            <a:ext cx="4846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9FB2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burn out before the trip even begins</a:t>
            </a:r>
            <a:endParaRPr lang="en-US" sz="1150" dirty="0"/>
          </a:p>
        </p:txBody>
      </p:sp>
      <p:sp>
        <p:nvSpPr>
          <p:cNvPr id="10" name="Text 7"/>
          <p:cNvSpPr txBox="1"/>
          <p:nvPr/>
        </p:nvSpPr>
        <p:spPr>
          <a:xfrm>
            <a:off x="777240" y="4736592"/>
            <a:ext cx="502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C9A2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</a:t>
            </a:r>
            <a:endParaRPr lang="en-US" sz="1500" dirty="0"/>
          </a:p>
        </p:txBody>
      </p:sp>
      <p:sp>
        <p:nvSpPr>
          <p:cNvPr id="11" name="Text 8"/>
          <p:cNvSpPr txBox="1"/>
          <p:nvPr/>
        </p:nvSpPr>
        <p:spPr>
          <a:xfrm>
            <a:off x="1344168" y="4736592"/>
            <a:ext cx="48463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4EFE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 way to tell if it fits you</a:t>
            </a:r>
            <a:endParaRPr lang="en-US" sz="1500" dirty="0"/>
          </a:p>
        </p:txBody>
      </p:sp>
      <p:sp>
        <p:nvSpPr>
          <p:cNvPr id="12" name="Text 9"/>
          <p:cNvSpPr txBox="1"/>
          <p:nvPr/>
        </p:nvSpPr>
        <p:spPr>
          <a:xfrm>
            <a:off x="1344168" y="5038344"/>
            <a:ext cx="4846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9FB2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recommendation is written for everybody, not for you</a:t>
            </a:r>
            <a:endParaRPr lang="en-US" sz="1150" dirty="0"/>
          </a:p>
        </p:txBody>
      </p:sp>
      <p:sp>
        <p:nvSpPr>
          <p:cNvPr id="13" name="Text 10"/>
          <p:cNvSpPr txBox="1"/>
          <p:nvPr/>
        </p:nvSpPr>
        <p:spPr>
          <a:xfrm>
            <a:off x="777240" y="5522976"/>
            <a:ext cx="502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C9A2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</a:t>
            </a:r>
            <a:endParaRPr lang="en-US" sz="1500" dirty="0"/>
          </a:p>
        </p:txBody>
      </p:sp>
      <p:sp>
        <p:nvSpPr>
          <p:cNvPr id="14" name="Text 11"/>
          <p:cNvSpPr txBox="1"/>
          <p:nvPr/>
        </p:nvSpPr>
        <p:spPr>
          <a:xfrm>
            <a:off x="1344168" y="5522976"/>
            <a:ext cx="48463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4EFE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Nobody finishes a long form</a:t>
            </a:r>
            <a:endParaRPr lang="en-US" sz="1500" dirty="0"/>
          </a:p>
        </p:txBody>
      </p:sp>
      <p:sp>
        <p:nvSpPr>
          <p:cNvPr id="15" name="Text 12"/>
          <p:cNvSpPr txBox="1"/>
          <p:nvPr/>
        </p:nvSpPr>
        <p:spPr>
          <a:xfrm>
            <a:off x="1344168" y="5824728"/>
            <a:ext cx="4846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9FB2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 the tools that could personalise never get the input</a:t>
            </a:r>
            <a:endParaRPr lang="en-US" sz="1150" dirty="0"/>
          </a:p>
        </p:txBody>
      </p:sp>
      <p:sp>
        <p:nvSpPr>
          <p:cNvPr id="16" name="Text 13"/>
          <p:cNvSpPr txBox="1"/>
          <p:nvPr/>
        </p:nvSpPr>
        <p:spPr>
          <a:xfrm>
            <a:off x="777240" y="6272784"/>
            <a:ext cx="57607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friend who is great at planning — for everyone’s trip.</a:t>
            </a:r>
            <a:endParaRPr lang="en-US" sz="1250" dirty="0"/>
          </a:p>
        </p:txBody>
      </p:sp>
      <p:sp>
        <p:nvSpPr>
          <p:cNvPr id="17" name="Shape 14"/>
          <p:cNvSpPr/>
          <p:nvPr/>
        </p:nvSpPr>
        <p:spPr>
          <a:xfrm>
            <a:off x="7059168" y="713232"/>
            <a:ext cx="4370832" cy="5431536"/>
          </a:xfrm>
          <a:prstGeom prst="roundRect">
            <a:avLst>
              <a:gd name="adj" fmla="val 2092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279400" dist="76200" dir="5400000">
              <a:srgbClr val="000000">
                <a:alpha val="34000"/>
              </a:srgbClr>
            </a:outerShdw>
          </a:effectLst>
        </p:spPr>
      </p:sp>
      <p:sp>
        <p:nvSpPr>
          <p:cNvPr id="18" name="Shape 15"/>
          <p:cNvSpPr/>
          <p:nvPr/>
        </p:nvSpPr>
        <p:spPr>
          <a:xfrm>
            <a:off x="7059168" y="713232"/>
            <a:ext cx="4370832" cy="914400"/>
          </a:xfrm>
          <a:prstGeom prst="roundRect">
            <a:avLst>
              <a:gd name="adj" fmla="val 10000"/>
            </a:avLst>
          </a:prstGeom>
          <a:solidFill>
            <a:srgbClr val="1E2F4D"/>
          </a:solidFill>
          <a:ln w="12700">
            <a:solidFill>
              <a:srgbClr val="1E2F4D"/>
            </a:solidFill>
            <a:prstDash val="solid"/>
          </a:ln>
        </p:spPr>
      </p:sp>
      <p:sp>
        <p:nvSpPr>
          <p:cNvPr id="19" name="Shape 16"/>
          <p:cNvSpPr/>
          <p:nvPr/>
        </p:nvSpPr>
        <p:spPr>
          <a:xfrm>
            <a:off x="7059168" y="1216152"/>
            <a:ext cx="4370832" cy="411480"/>
          </a:xfrm>
          <a:prstGeom prst="rect">
            <a:avLst/>
          </a:prstGeom>
          <a:solidFill>
            <a:srgbClr val="1E2F4D"/>
          </a:solidFill>
          <a:ln w="12700">
            <a:solidFill>
              <a:srgbClr val="1E2F4D"/>
            </a:solidFill>
            <a:prstDash val="solid"/>
          </a:ln>
        </p:spPr>
      </p:sp>
      <p:sp>
        <p:nvSpPr>
          <p:cNvPr id="20" name="Text 17"/>
          <p:cNvSpPr txBox="1"/>
          <p:nvPr/>
        </p:nvSpPr>
        <p:spPr>
          <a:xfrm>
            <a:off x="7351776" y="877824"/>
            <a:ext cx="378561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4EFE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ENFP  ·  Tokyo → San Francisco</a:t>
            </a:r>
            <a:endParaRPr lang="en-US" sz="1500" dirty="0"/>
          </a:p>
        </p:txBody>
      </p:sp>
      <p:sp>
        <p:nvSpPr>
          <p:cNvPr id="21" name="Text 18"/>
          <p:cNvSpPr txBox="1"/>
          <p:nvPr/>
        </p:nvSpPr>
        <p:spPr>
          <a:xfrm>
            <a:off x="7351776" y="1207008"/>
            <a:ext cx="37856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FB2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days  ·  Fri 18 – Sun 20 Sep 2026</a:t>
            </a:r>
            <a:endParaRPr lang="en-US" sz="1050" dirty="0"/>
          </a:p>
        </p:txBody>
      </p:sp>
      <p:sp>
        <p:nvSpPr>
          <p:cNvPr id="22" name="Text 19"/>
          <p:cNvSpPr txBox="1"/>
          <p:nvPr/>
        </p:nvSpPr>
        <p:spPr>
          <a:xfrm>
            <a:off x="7351776" y="1773936"/>
            <a:ext cx="378561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180" kern="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YOU TYPED IN</a:t>
            </a:r>
            <a:endParaRPr lang="en-US" sz="850" dirty="0"/>
          </a:p>
        </p:txBody>
      </p:sp>
      <p:sp>
        <p:nvSpPr>
          <p:cNvPr id="23" name="Shape 20"/>
          <p:cNvSpPr/>
          <p:nvPr/>
        </p:nvSpPr>
        <p:spPr>
          <a:xfrm>
            <a:off x="7351776" y="2066544"/>
            <a:ext cx="1170432" cy="365760"/>
          </a:xfrm>
          <a:prstGeom prst="roundRect">
            <a:avLst>
              <a:gd name="adj" fmla="val 25000"/>
            </a:avLst>
          </a:prstGeom>
          <a:solidFill>
            <a:srgbClr val="F7F5F1"/>
          </a:solidFill>
          <a:ln w="12700">
            <a:solidFill>
              <a:srgbClr val="E4DFD3"/>
            </a:solidFill>
            <a:prstDash val="solid"/>
          </a:ln>
        </p:spPr>
      </p:sp>
      <p:sp>
        <p:nvSpPr>
          <p:cNvPr id="24" name="Text 21"/>
          <p:cNvSpPr txBox="1"/>
          <p:nvPr/>
        </p:nvSpPr>
        <p:spPr>
          <a:xfrm>
            <a:off x="7351776" y="2066544"/>
            <a:ext cx="11704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E2F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ENFP</a:t>
            </a:r>
            <a:endParaRPr lang="en-US" sz="1050" dirty="0"/>
          </a:p>
        </p:txBody>
      </p:sp>
      <p:sp>
        <p:nvSpPr>
          <p:cNvPr id="25" name="Shape 22"/>
          <p:cNvSpPr/>
          <p:nvPr/>
        </p:nvSpPr>
        <p:spPr>
          <a:xfrm>
            <a:off x="8595360" y="2066544"/>
            <a:ext cx="1170432" cy="365760"/>
          </a:xfrm>
          <a:prstGeom prst="roundRect">
            <a:avLst>
              <a:gd name="adj" fmla="val 25000"/>
            </a:avLst>
          </a:prstGeom>
          <a:solidFill>
            <a:srgbClr val="F7F5F1"/>
          </a:solidFill>
          <a:ln w="12700">
            <a:solidFill>
              <a:srgbClr val="E4DFD3"/>
            </a:solidFill>
            <a:prstDash val="solid"/>
          </a:ln>
        </p:spPr>
      </p:sp>
      <p:sp>
        <p:nvSpPr>
          <p:cNvPr id="26" name="Text 23"/>
          <p:cNvSpPr txBox="1"/>
          <p:nvPr/>
        </p:nvSpPr>
        <p:spPr>
          <a:xfrm>
            <a:off x="8595360" y="2066544"/>
            <a:ext cx="11704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E2F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Tokyo</a:t>
            </a:r>
            <a:endParaRPr lang="en-US" sz="1050" dirty="0"/>
          </a:p>
        </p:txBody>
      </p:sp>
      <p:sp>
        <p:nvSpPr>
          <p:cNvPr id="27" name="Shape 24"/>
          <p:cNvSpPr/>
          <p:nvPr/>
        </p:nvSpPr>
        <p:spPr>
          <a:xfrm>
            <a:off x="9838944" y="2066544"/>
            <a:ext cx="1298448" cy="365760"/>
          </a:xfrm>
          <a:prstGeom prst="roundRect">
            <a:avLst>
              <a:gd name="adj" fmla="val 25000"/>
            </a:avLst>
          </a:prstGeom>
          <a:solidFill>
            <a:srgbClr val="F7F5F1"/>
          </a:solidFill>
          <a:ln w="12700">
            <a:solidFill>
              <a:srgbClr val="E4DFD3"/>
            </a:solidFill>
            <a:prstDash val="solid"/>
          </a:ln>
        </p:spPr>
      </p:sp>
      <p:sp>
        <p:nvSpPr>
          <p:cNvPr id="28" name="Text 25"/>
          <p:cNvSpPr txBox="1"/>
          <p:nvPr/>
        </p:nvSpPr>
        <p:spPr>
          <a:xfrm>
            <a:off x="9838944" y="2066544"/>
            <a:ext cx="12984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E2F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San Francisco</a:t>
            </a:r>
            <a:endParaRPr lang="en-US" sz="1050" dirty="0"/>
          </a:p>
        </p:txBody>
      </p:sp>
      <p:sp>
        <p:nvSpPr>
          <p:cNvPr id="29" name="Shape 26"/>
          <p:cNvSpPr/>
          <p:nvPr/>
        </p:nvSpPr>
        <p:spPr>
          <a:xfrm>
            <a:off x="7351776" y="2523744"/>
            <a:ext cx="3785616" cy="365760"/>
          </a:xfrm>
          <a:prstGeom prst="roundRect">
            <a:avLst>
              <a:gd name="adj" fmla="val 25000"/>
            </a:avLst>
          </a:prstGeom>
          <a:solidFill>
            <a:srgbClr val="F7F5F1"/>
          </a:solidFill>
          <a:ln w="12700">
            <a:solidFill>
              <a:srgbClr val="E4DFD3"/>
            </a:solidFill>
            <a:prstDash val="solid"/>
          </a:ln>
        </p:spPr>
      </p:sp>
      <p:sp>
        <p:nvSpPr>
          <p:cNvPr id="30" name="Text 27"/>
          <p:cNvSpPr txBox="1"/>
          <p:nvPr/>
        </p:nvSpPr>
        <p:spPr>
          <a:xfrm>
            <a:off x="7351776" y="2523744"/>
            <a:ext cx="378561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E2F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"Meet locals, keep it loose"</a:t>
            </a:r>
            <a:endParaRPr lang="en-US" sz="1050" dirty="0"/>
          </a:p>
        </p:txBody>
      </p:sp>
      <p:sp>
        <p:nvSpPr>
          <p:cNvPr id="31" name="Shape 28"/>
          <p:cNvSpPr/>
          <p:nvPr/>
        </p:nvSpPr>
        <p:spPr>
          <a:xfrm>
            <a:off x="7351776" y="3090672"/>
            <a:ext cx="3785616" cy="0"/>
          </a:xfrm>
          <a:prstGeom prst="line">
            <a:avLst/>
          </a:prstGeom>
          <a:noFill/>
          <a:ln w="12700">
            <a:solidFill>
              <a:srgbClr val="E4DFD3"/>
            </a:solidFill>
            <a:prstDash val="solid"/>
          </a:ln>
        </p:spPr>
      </p:sp>
      <p:sp>
        <p:nvSpPr>
          <p:cNvPr id="32" name="Text 29"/>
          <p:cNvSpPr txBox="1"/>
          <p:nvPr/>
        </p:nvSpPr>
        <p:spPr>
          <a:xfrm>
            <a:off x="7351776" y="3200400"/>
            <a:ext cx="2011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180" kern="0" dirty="0">
                <a:solidFill>
                  <a:srgbClr val="D64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1  ·  FRIDAY</a:t>
            </a:r>
            <a:endParaRPr lang="en-US" sz="850" dirty="0"/>
          </a:p>
        </p:txBody>
      </p:sp>
      <p:sp>
        <p:nvSpPr>
          <p:cNvPr id="33" name="Shape 30"/>
          <p:cNvSpPr/>
          <p:nvPr/>
        </p:nvSpPr>
        <p:spPr>
          <a:xfrm>
            <a:off x="7370064" y="3602736"/>
            <a:ext cx="109728" cy="109728"/>
          </a:xfrm>
          <a:prstGeom prst="ellipse">
            <a:avLst/>
          </a:prstGeom>
          <a:solidFill>
            <a:srgbClr val="D64933"/>
          </a:solidFill>
          <a:ln w="12700">
            <a:solidFill>
              <a:srgbClr val="D64933"/>
            </a:solidFill>
            <a:prstDash val="solid"/>
          </a:ln>
        </p:spPr>
      </p:sp>
      <p:sp>
        <p:nvSpPr>
          <p:cNvPr id="34" name="Text 31"/>
          <p:cNvSpPr txBox="1"/>
          <p:nvPr/>
        </p:nvSpPr>
        <p:spPr>
          <a:xfrm>
            <a:off x="7589520" y="3493008"/>
            <a:ext cx="5669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12:30</a:t>
            </a:r>
            <a:endParaRPr lang="en-US" sz="1000" dirty="0"/>
          </a:p>
        </p:txBody>
      </p:sp>
      <p:sp>
        <p:nvSpPr>
          <p:cNvPr id="35" name="Text 32"/>
          <p:cNvSpPr txBox="1"/>
          <p:nvPr/>
        </p:nvSpPr>
        <p:spPr>
          <a:xfrm>
            <a:off x="8174736" y="3493008"/>
            <a:ext cx="30175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F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Graze the Ferry Building counters</a:t>
            </a:r>
            <a:endParaRPr lang="en-US" sz="1050" dirty="0"/>
          </a:p>
        </p:txBody>
      </p:sp>
      <p:sp>
        <p:nvSpPr>
          <p:cNvPr id="36" name="Shape 33"/>
          <p:cNvSpPr/>
          <p:nvPr/>
        </p:nvSpPr>
        <p:spPr>
          <a:xfrm>
            <a:off x="7370064" y="3931920"/>
            <a:ext cx="109728" cy="109728"/>
          </a:xfrm>
          <a:prstGeom prst="ellipse">
            <a:avLst/>
          </a:prstGeom>
          <a:solidFill>
            <a:srgbClr val="D64933"/>
          </a:solidFill>
          <a:ln w="12700">
            <a:solidFill>
              <a:srgbClr val="D64933"/>
            </a:solidFill>
            <a:prstDash val="solid"/>
          </a:ln>
        </p:spPr>
      </p:sp>
      <p:sp>
        <p:nvSpPr>
          <p:cNvPr id="37" name="Text 34"/>
          <p:cNvSpPr txBox="1"/>
          <p:nvPr/>
        </p:nvSpPr>
        <p:spPr>
          <a:xfrm>
            <a:off x="7589520" y="3822192"/>
            <a:ext cx="5669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15:00</a:t>
            </a:r>
            <a:endParaRPr lang="en-US" sz="1000" dirty="0"/>
          </a:p>
        </p:txBody>
      </p:sp>
      <p:sp>
        <p:nvSpPr>
          <p:cNvPr id="38" name="Text 35"/>
          <p:cNvSpPr txBox="1"/>
          <p:nvPr/>
        </p:nvSpPr>
        <p:spPr>
          <a:xfrm>
            <a:off x="8174736" y="3822192"/>
            <a:ext cx="30175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F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Mural alleys in the Mission</a:t>
            </a:r>
            <a:endParaRPr lang="en-US" sz="1050" dirty="0"/>
          </a:p>
        </p:txBody>
      </p:sp>
      <p:sp>
        <p:nvSpPr>
          <p:cNvPr id="39" name="Shape 36"/>
          <p:cNvSpPr/>
          <p:nvPr/>
        </p:nvSpPr>
        <p:spPr>
          <a:xfrm>
            <a:off x="7370064" y="4261104"/>
            <a:ext cx="109728" cy="109728"/>
          </a:xfrm>
          <a:prstGeom prst="ellipse">
            <a:avLst/>
          </a:prstGeom>
          <a:solidFill>
            <a:srgbClr val="C9A227"/>
          </a:solidFill>
          <a:ln w="12700">
            <a:solidFill>
              <a:srgbClr val="C9A227"/>
            </a:solidFill>
            <a:prstDash val="solid"/>
          </a:ln>
        </p:spPr>
      </p:sp>
      <p:sp>
        <p:nvSpPr>
          <p:cNvPr id="40" name="Text 37"/>
          <p:cNvSpPr txBox="1"/>
          <p:nvPr/>
        </p:nvSpPr>
        <p:spPr>
          <a:xfrm>
            <a:off x="7589520" y="4151376"/>
            <a:ext cx="5669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16:30</a:t>
            </a:r>
            <a:endParaRPr lang="en-US" sz="1000" dirty="0"/>
          </a:p>
        </p:txBody>
      </p:sp>
      <p:sp>
        <p:nvSpPr>
          <p:cNvPr id="41" name="Text 38"/>
          <p:cNvSpPr txBox="1"/>
          <p:nvPr/>
        </p:nvSpPr>
        <p:spPr>
          <a:xfrm>
            <a:off x="8174736" y="4151376"/>
            <a:ext cx="30175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D64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Dolores Park — left open on purpose</a:t>
            </a:r>
            <a:endParaRPr lang="en-US" sz="1050" dirty="0"/>
          </a:p>
        </p:txBody>
      </p:sp>
      <p:sp>
        <p:nvSpPr>
          <p:cNvPr id="42" name="Shape 39"/>
          <p:cNvSpPr/>
          <p:nvPr/>
        </p:nvSpPr>
        <p:spPr>
          <a:xfrm>
            <a:off x="7370064" y="4590288"/>
            <a:ext cx="109728" cy="109728"/>
          </a:xfrm>
          <a:prstGeom prst="ellipse">
            <a:avLst/>
          </a:prstGeom>
          <a:solidFill>
            <a:srgbClr val="D64933"/>
          </a:solidFill>
          <a:ln w="12700">
            <a:solidFill>
              <a:srgbClr val="D64933"/>
            </a:solidFill>
            <a:prstDash val="solid"/>
          </a:ln>
        </p:spPr>
      </p:sp>
      <p:sp>
        <p:nvSpPr>
          <p:cNvPr id="43" name="Text 40"/>
          <p:cNvSpPr txBox="1"/>
          <p:nvPr/>
        </p:nvSpPr>
        <p:spPr>
          <a:xfrm>
            <a:off x="7589520" y="4480560"/>
            <a:ext cx="5669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17:45</a:t>
            </a:r>
            <a:endParaRPr lang="en-US" sz="1000" dirty="0"/>
          </a:p>
        </p:txBody>
      </p:sp>
      <p:sp>
        <p:nvSpPr>
          <p:cNvPr id="44" name="Text 41"/>
          <p:cNvSpPr txBox="1"/>
          <p:nvPr/>
        </p:nvSpPr>
        <p:spPr>
          <a:xfrm>
            <a:off x="8174736" y="4480560"/>
            <a:ext cx="30175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F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Fort Mason Night Market</a:t>
            </a:r>
            <a:endParaRPr lang="en-US" sz="1050" dirty="0"/>
          </a:p>
        </p:txBody>
      </p:sp>
      <p:sp>
        <p:nvSpPr>
          <p:cNvPr id="45" name="Shape 42"/>
          <p:cNvSpPr/>
          <p:nvPr/>
        </p:nvSpPr>
        <p:spPr>
          <a:xfrm>
            <a:off x="7351776" y="4846320"/>
            <a:ext cx="3785616" cy="384048"/>
          </a:xfrm>
          <a:prstGeom prst="roundRect">
            <a:avLst>
              <a:gd name="adj" fmla="val 21429"/>
            </a:avLst>
          </a:prstGeom>
          <a:solidFill>
            <a:srgbClr val="FDF6E8"/>
          </a:solidFill>
          <a:ln w="12700">
            <a:solidFill>
              <a:srgbClr val="C9A227"/>
            </a:solidFill>
            <a:prstDash val="solid"/>
          </a:ln>
        </p:spPr>
      </p:sp>
      <p:sp>
        <p:nvSpPr>
          <p:cNvPr id="46" name="Text 43"/>
          <p:cNvSpPr txBox="1"/>
          <p:nvPr/>
        </p:nvSpPr>
        <p:spPr>
          <a:xfrm>
            <a:off x="7479792" y="4846320"/>
            <a:ext cx="352958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i="1" dirty="0">
                <a:solidFill>
                  <a:srgbClr val="D64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ENFPs run on new people — so most of this day stays open</a:t>
            </a:r>
            <a:endParaRPr lang="en-US" sz="950" dirty="0"/>
          </a:p>
        </p:txBody>
      </p:sp>
      <p:sp>
        <p:nvSpPr>
          <p:cNvPr id="47" name="Shape 44"/>
          <p:cNvSpPr/>
          <p:nvPr/>
        </p:nvSpPr>
        <p:spPr>
          <a:xfrm>
            <a:off x="7351776" y="5266944"/>
            <a:ext cx="3785616" cy="566928"/>
          </a:xfrm>
          <a:prstGeom prst="roundRect">
            <a:avLst>
              <a:gd name="adj" fmla="val 9677"/>
            </a:avLst>
          </a:prstGeom>
          <a:solidFill>
            <a:srgbClr val="E4E9EF"/>
          </a:solidFill>
          <a:ln w="12700">
            <a:solidFill>
              <a:srgbClr val="C9D3DF"/>
            </a:solidFill>
            <a:prstDash val="solid"/>
          </a:ln>
        </p:spPr>
      </p:sp>
      <p:sp>
        <p:nvSpPr>
          <p:cNvPr id="48" name="Shape 45"/>
          <p:cNvSpPr/>
          <p:nvPr/>
        </p:nvSpPr>
        <p:spPr>
          <a:xfrm>
            <a:off x="10351008" y="5266944"/>
            <a:ext cx="786384" cy="310896"/>
          </a:xfrm>
          <a:prstGeom prst="roundRect">
            <a:avLst>
              <a:gd name="adj" fmla="val 17647"/>
            </a:avLst>
          </a:prstGeom>
          <a:solidFill>
            <a:srgbClr val="CBDCEA"/>
          </a:solidFill>
          <a:ln w="12700">
            <a:solidFill>
              <a:srgbClr val="CBDCEA"/>
            </a:solidFill>
            <a:prstDash val="solid"/>
          </a:ln>
        </p:spPr>
      </p:sp>
      <p:sp>
        <p:nvSpPr>
          <p:cNvPr id="49" name="Shape 46"/>
          <p:cNvSpPr/>
          <p:nvPr/>
        </p:nvSpPr>
        <p:spPr>
          <a:xfrm>
            <a:off x="8065008" y="5596128"/>
            <a:ext cx="548640" cy="201168"/>
          </a:xfrm>
          <a:prstGeom prst="roundRect">
            <a:avLst>
              <a:gd name="adj" fmla="val 22727"/>
            </a:avLst>
          </a:prstGeom>
          <a:solidFill>
            <a:srgbClr val="CFDEC8"/>
          </a:solidFill>
          <a:ln w="12700">
            <a:solidFill>
              <a:srgbClr val="CFDEC8"/>
            </a:solidFill>
            <a:prstDash val="solid"/>
          </a:ln>
        </p:spPr>
      </p:sp>
      <p:sp>
        <p:nvSpPr>
          <p:cNvPr id="50" name="Shape 47"/>
          <p:cNvSpPr/>
          <p:nvPr/>
        </p:nvSpPr>
        <p:spPr>
          <a:xfrm>
            <a:off x="7406640" y="5449824"/>
            <a:ext cx="3675888" cy="0"/>
          </a:xfrm>
          <a:prstGeom prst="line">
            <a:avLst/>
          </a:prstGeom>
          <a:noFill/>
          <a:ln w="27940">
            <a:solidFill>
              <a:srgbClr val="FFFFFF"/>
            </a:solidFill>
            <a:prstDash val="solid"/>
          </a:ln>
        </p:spPr>
      </p:sp>
      <p:sp>
        <p:nvSpPr>
          <p:cNvPr id="51" name="Shape 48"/>
          <p:cNvSpPr/>
          <p:nvPr/>
        </p:nvSpPr>
        <p:spPr>
          <a:xfrm>
            <a:off x="7406640" y="5650992"/>
            <a:ext cx="3675888" cy="0"/>
          </a:xfrm>
          <a:prstGeom prst="line">
            <a:avLst/>
          </a:prstGeom>
          <a:noFill/>
          <a:ln w="27940">
            <a:solidFill>
              <a:srgbClr val="FFFFFF"/>
            </a:solidFill>
            <a:prstDash val="solid"/>
          </a:ln>
        </p:spPr>
      </p:sp>
      <p:sp>
        <p:nvSpPr>
          <p:cNvPr id="52" name="Shape 49"/>
          <p:cNvSpPr/>
          <p:nvPr/>
        </p:nvSpPr>
        <p:spPr>
          <a:xfrm>
            <a:off x="8174736" y="5321808"/>
            <a:ext cx="0" cy="457200"/>
          </a:xfrm>
          <a:prstGeom prst="line">
            <a:avLst/>
          </a:prstGeom>
          <a:noFill/>
          <a:ln w="27940">
            <a:solidFill>
              <a:srgbClr val="FFFFFF"/>
            </a:solidFill>
            <a:prstDash val="solid"/>
          </a:ln>
        </p:spPr>
      </p:sp>
      <p:sp>
        <p:nvSpPr>
          <p:cNvPr id="53" name="Shape 50"/>
          <p:cNvSpPr/>
          <p:nvPr/>
        </p:nvSpPr>
        <p:spPr>
          <a:xfrm>
            <a:off x="9089136" y="5321808"/>
            <a:ext cx="0" cy="457200"/>
          </a:xfrm>
          <a:prstGeom prst="line">
            <a:avLst/>
          </a:prstGeom>
          <a:noFill/>
          <a:ln w="27940">
            <a:solidFill>
              <a:srgbClr val="FFFFFF"/>
            </a:solidFill>
            <a:prstDash val="solid"/>
          </a:ln>
        </p:spPr>
      </p:sp>
      <p:sp>
        <p:nvSpPr>
          <p:cNvPr id="54" name="Shape 51"/>
          <p:cNvSpPr/>
          <p:nvPr/>
        </p:nvSpPr>
        <p:spPr>
          <a:xfrm>
            <a:off x="10003536" y="5321808"/>
            <a:ext cx="0" cy="457200"/>
          </a:xfrm>
          <a:prstGeom prst="line">
            <a:avLst/>
          </a:prstGeom>
          <a:noFill/>
          <a:ln w="27940">
            <a:solidFill>
              <a:srgbClr val="FFFFFF"/>
            </a:solidFill>
            <a:prstDash val="solid"/>
          </a:ln>
        </p:spPr>
      </p:sp>
      <p:sp>
        <p:nvSpPr>
          <p:cNvPr id="55" name="Shape 52"/>
          <p:cNvSpPr/>
          <p:nvPr/>
        </p:nvSpPr>
        <p:spPr>
          <a:xfrm flipV="1">
            <a:off x="7717536" y="5449824"/>
            <a:ext cx="457200" cy="274320"/>
          </a:xfrm>
          <a:prstGeom prst="line">
            <a:avLst/>
          </a:prstGeom>
          <a:noFill/>
          <a:ln w="30480">
            <a:solidFill>
              <a:srgbClr val="D64933"/>
            </a:solidFill>
            <a:prstDash val="solid"/>
          </a:ln>
        </p:spPr>
      </p:sp>
      <p:sp>
        <p:nvSpPr>
          <p:cNvPr id="56" name="Shape 53"/>
          <p:cNvSpPr/>
          <p:nvPr/>
        </p:nvSpPr>
        <p:spPr>
          <a:xfrm>
            <a:off x="8174736" y="5449824"/>
            <a:ext cx="1280160" cy="0"/>
          </a:xfrm>
          <a:prstGeom prst="line">
            <a:avLst/>
          </a:prstGeom>
          <a:noFill/>
          <a:ln w="30480">
            <a:solidFill>
              <a:srgbClr val="D64933"/>
            </a:solidFill>
            <a:prstDash val="solid"/>
          </a:ln>
        </p:spPr>
      </p:sp>
      <p:sp>
        <p:nvSpPr>
          <p:cNvPr id="57" name="Shape 54"/>
          <p:cNvSpPr/>
          <p:nvPr/>
        </p:nvSpPr>
        <p:spPr>
          <a:xfrm>
            <a:off x="9454896" y="5449824"/>
            <a:ext cx="502920" cy="237744"/>
          </a:xfrm>
          <a:prstGeom prst="line">
            <a:avLst/>
          </a:prstGeom>
          <a:noFill/>
          <a:ln w="30480">
            <a:solidFill>
              <a:srgbClr val="D64933"/>
            </a:solidFill>
            <a:prstDash val="solid"/>
          </a:ln>
        </p:spPr>
      </p:sp>
      <p:sp>
        <p:nvSpPr>
          <p:cNvPr id="58" name="Shape 55"/>
          <p:cNvSpPr/>
          <p:nvPr/>
        </p:nvSpPr>
        <p:spPr>
          <a:xfrm flipV="1">
            <a:off x="9957816" y="5413248"/>
            <a:ext cx="640080" cy="274320"/>
          </a:xfrm>
          <a:prstGeom prst="line">
            <a:avLst/>
          </a:prstGeom>
          <a:noFill/>
          <a:ln w="30480">
            <a:solidFill>
              <a:srgbClr val="D64933"/>
            </a:solidFill>
            <a:prstDash val="solid"/>
          </a:ln>
        </p:spPr>
      </p:sp>
      <p:sp>
        <p:nvSpPr>
          <p:cNvPr id="59" name="Shape 56"/>
          <p:cNvSpPr/>
          <p:nvPr/>
        </p:nvSpPr>
        <p:spPr>
          <a:xfrm>
            <a:off x="7644384" y="5650992"/>
            <a:ext cx="146304" cy="146304"/>
          </a:xfrm>
          <a:prstGeom prst="ellipse">
            <a:avLst/>
          </a:prstGeom>
          <a:solidFill>
            <a:srgbClr val="1E2F4D"/>
          </a:solidFill>
          <a:ln w="17780">
            <a:solidFill>
              <a:srgbClr val="FFFFFF"/>
            </a:solidFill>
            <a:prstDash val="solid"/>
          </a:ln>
        </p:spPr>
      </p:sp>
      <p:sp>
        <p:nvSpPr>
          <p:cNvPr id="60" name="Shape 57"/>
          <p:cNvSpPr/>
          <p:nvPr/>
        </p:nvSpPr>
        <p:spPr>
          <a:xfrm>
            <a:off x="8101584" y="5376672"/>
            <a:ext cx="146304" cy="146304"/>
          </a:xfrm>
          <a:prstGeom prst="ellipse">
            <a:avLst/>
          </a:prstGeom>
          <a:solidFill>
            <a:srgbClr val="D64933"/>
          </a:solidFill>
          <a:ln w="17780">
            <a:solidFill>
              <a:srgbClr val="FFFFFF"/>
            </a:solidFill>
            <a:prstDash val="solid"/>
          </a:ln>
        </p:spPr>
      </p:sp>
      <p:sp>
        <p:nvSpPr>
          <p:cNvPr id="61" name="Shape 58"/>
          <p:cNvSpPr/>
          <p:nvPr/>
        </p:nvSpPr>
        <p:spPr>
          <a:xfrm>
            <a:off x="9381744" y="5376672"/>
            <a:ext cx="146304" cy="146304"/>
          </a:xfrm>
          <a:prstGeom prst="ellipse">
            <a:avLst/>
          </a:prstGeom>
          <a:solidFill>
            <a:srgbClr val="D64933"/>
          </a:solidFill>
          <a:ln w="17780">
            <a:solidFill>
              <a:srgbClr val="FFFFFF"/>
            </a:solidFill>
            <a:prstDash val="solid"/>
          </a:ln>
        </p:spPr>
      </p:sp>
      <p:sp>
        <p:nvSpPr>
          <p:cNvPr id="62" name="Shape 59"/>
          <p:cNvSpPr/>
          <p:nvPr/>
        </p:nvSpPr>
        <p:spPr>
          <a:xfrm>
            <a:off x="9884664" y="5614416"/>
            <a:ext cx="146304" cy="146304"/>
          </a:xfrm>
          <a:prstGeom prst="ellipse">
            <a:avLst/>
          </a:prstGeom>
          <a:solidFill>
            <a:srgbClr val="D64933"/>
          </a:solidFill>
          <a:ln w="17780">
            <a:solidFill>
              <a:srgbClr val="FFFFFF"/>
            </a:solidFill>
            <a:prstDash val="solid"/>
          </a:ln>
        </p:spPr>
      </p:sp>
      <p:sp>
        <p:nvSpPr>
          <p:cNvPr id="63" name="Shape 60"/>
          <p:cNvSpPr/>
          <p:nvPr/>
        </p:nvSpPr>
        <p:spPr>
          <a:xfrm>
            <a:off x="10524744" y="5340096"/>
            <a:ext cx="146304" cy="146304"/>
          </a:xfrm>
          <a:prstGeom prst="ellipse">
            <a:avLst/>
          </a:prstGeom>
          <a:solidFill>
            <a:srgbClr val="D64933"/>
          </a:solidFill>
          <a:ln w="17780">
            <a:solidFill>
              <a:srgbClr val="FFFFFF"/>
            </a:solidFill>
            <a:prstDash val="solid"/>
          </a:ln>
        </p:spPr>
      </p:sp>
      <p:sp>
        <p:nvSpPr>
          <p:cNvPr id="64" name="Text 61"/>
          <p:cNvSpPr txBox="1"/>
          <p:nvPr/>
        </p:nvSpPr>
        <p:spPr>
          <a:xfrm>
            <a:off x="7351776" y="5861304"/>
            <a:ext cx="378561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stop and route, already pinned</a:t>
            </a:r>
            <a:endParaRPr lang="en-US" sz="8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371600"/>
          </a:xfrm>
          <a:prstGeom prst="rect">
            <a:avLst/>
          </a:prstGeom>
          <a:solidFill>
            <a:srgbClr val="1E2F4D"/>
          </a:solidFill>
          <a:ln w="12700">
            <a:solidFill>
              <a:srgbClr val="1E2F4D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640080" y="182880"/>
            <a:ext cx="80467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F4EFE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This is what actually comes out</a:t>
            </a:r>
            <a:endParaRPr lang="en-US" sz="27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722376"/>
            <a:ext cx="10881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i="1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ENFP "The Campaigner"  ·  Tokyo → San Francisco  ·  "Meet locals, keep it loose"  ·  Fri 18 – Sun 20 Sep 2026</a:t>
            </a:r>
            <a:endParaRPr lang="en-US" sz="130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1014984"/>
            <a:ext cx="10881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9CF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ENFPs are energised by people and improvisation, and drained by rigid schedules. So it books four anchors and deliberately leaves the gaps empty.</a:t>
            </a:r>
            <a:endParaRPr lang="en-US" sz="1100" dirty="0"/>
          </a:p>
        </p:txBody>
      </p:sp>
      <p:sp>
        <p:nvSpPr>
          <p:cNvPr id="6" name="Text 4"/>
          <p:cNvSpPr txBox="1"/>
          <p:nvPr/>
        </p:nvSpPr>
        <p:spPr>
          <a:xfrm>
            <a:off x="640080" y="1517904"/>
            <a:ext cx="4114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80" kern="0" dirty="0">
                <a:solidFill>
                  <a:srgbClr val="D64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1  ·  FRIDAY 18 SEPTEMBER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1298448" y="1975104"/>
            <a:ext cx="0" cy="3127248"/>
          </a:xfrm>
          <a:prstGeom prst="line">
            <a:avLst/>
          </a:prstGeom>
          <a:noFill/>
          <a:ln w="25400">
            <a:solidFill>
              <a:srgbClr val="E4DFD3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216152" y="1892808"/>
            <a:ext cx="164592" cy="164592"/>
          </a:xfrm>
          <a:prstGeom prst="ellipse">
            <a:avLst/>
          </a:prstGeom>
          <a:solidFill>
            <a:srgbClr val="FFFFFF"/>
          </a:solidFill>
          <a:ln w="25400">
            <a:solidFill>
              <a:srgbClr val="D64933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640080" y="1828800"/>
            <a:ext cx="5669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10:20</a:t>
            </a:r>
            <a:endParaRPr lang="en-US" sz="1100" dirty="0"/>
          </a:p>
        </p:txBody>
      </p:sp>
      <p:sp>
        <p:nvSpPr>
          <p:cNvPr id="10" name="Text 8"/>
          <p:cNvSpPr txBox="1"/>
          <p:nvPr/>
        </p:nvSpPr>
        <p:spPr>
          <a:xfrm>
            <a:off x="1591056" y="1828800"/>
            <a:ext cx="5303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F4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Land at SFO</a:t>
            </a:r>
            <a:endParaRPr lang="en-US" sz="1250" dirty="0"/>
          </a:p>
        </p:txBody>
      </p:sp>
      <p:sp>
        <p:nvSpPr>
          <p:cNvPr id="11" name="Text 9"/>
          <p:cNvSpPr txBox="1"/>
          <p:nvPr/>
        </p:nvSpPr>
        <p:spPr>
          <a:xfrm>
            <a:off x="1591056" y="2075688"/>
            <a:ext cx="5303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E46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Waymo picks up at the Rental Car Center — two stops on the AirTrain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1216152" y="2395728"/>
            <a:ext cx="164592" cy="164592"/>
          </a:xfrm>
          <a:prstGeom prst="ellipse">
            <a:avLst/>
          </a:prstGeom>
          <a:solidFill>
            <a:srgbClr val="FFFFFF"/>
          </a:solidFill>
          <a:ln w="25400">
            <a:solidFill>
              <a:srgbClr val="D64933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640080" y="2331720"/>
            <a:ext cx="5669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11:40</a:t>
            </a:r>
            <a:endParaRPr lang="en-US" sz="1100" dirty="0"/>
          </a:p>
        </p:txBody>
      </p:sp>
      <p:sp>
        <p:nvSpPr>
          <p:cNvPr id="14" name="Text 12"/>
          <p:cNvSpPr txBox="1"/>
          <p:nvPr/>
        </p:nvSpPr>
        <p:spPr>
          <a:xfrm>
            <a:off x="1591056" y="2331720"/>
            <a:ext cx="5303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F4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Drop bags in Hayes Valley</a:t>
            </a:r>
            <a:endParaRPr lang="en-US" sz="1250" dirty="0"/>
          </a:p>
        </p:txBody>
      </p:sp>
      <p:sp>
        <p:nvSpPr>
          <p:cNvPr id="15" name="Text 13"/>
          <p:cNvSpPr txBox="1"/>
          <p:nvPr/>
        </p:nvSpPr>
        <p:spPr>
          <a:xfrm>
            <a:off x="1591056" y="2578608"/>
            <a:ext cx="5303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E46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Check-in is 15:00, but the desk holds luggage. Don’t lose the morning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1216152" y="2898648"/>
            <a:ext cx="164592" cy="164592"/>
          </a:xfrm>
          <a:prstGeom prst="ellipse">
            <a:avLst/>
          </a:prstGeom>
          <a:solidFill>
            <a:srgbClr val="FFFFFF"/>
          </a:solidFill>
          <a:ln w="25400">
            <a:solidFill>
              <a:srgbClr val="D64933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640080" y="2834640"/>
            <a:ext cx="5669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12:30</a:t>
            </a:r>
            <a:endParaRPr lang="en-US" sz="1100" dirty="0"/>
          </a:p>
        </p:txBody>
      </p:sp>
      <p:sp>
        <p:nvSpPr>
          <p:cNvPr id="18" name="Text 16"/>
          <p:cNvSpPr txBox="1"/>
          <p:nvPr/>
        </p:nvSpPr>
        <p:spPr>
          <a:xfrm>
            <a:off x="1591056" y="2834640"/>
            <a:ext cx="5303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F4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Ferry Building Marketplace</a:t>
            </a:r>
            <a:endParaRPr lang="en-US" sz="1250" dirty="0"/>
          </a:p>
        </p:txBody>
      </p:sp>
      <p:sp>
        <p:nvSpPr>
          <p:cNvPr id="19" name="Text 17"/>
          <p:cNvSpPr txBox="1"/>
          <p:nvPr/>
        </p:nvSpPr>
        <p:spPr>
          <a:xfrm>
            <a:off x="1591056" y="3081528"/>
            <a:ext cx="5303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E46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Graze across counters instead of booking a table — you can move if you meet someone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1216152" y="3401568"/>
            <a:ext cx="164592" cy="164592"/>
          </a:xfrm>
          <a:prstGeom prst="ellipse">
            <a:avLst/>
          </a:prstGeom>
          <a:solidFill>
            <a:srgbClr val="FFFFFF"/>
          </a:solidFill>
          <a:ln w="25400">
            <a:solidFill>
              <a:srgbClr val="D64933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640080" y="3337560"/>
            <a:ext cx="5669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15:00</a:t>
            </a:r>
            <a:endParaRPr lang="en-US" sz="1100" dirty="0"/>
          </a:p>
        </p:txBody>
      </p:sp>
      <p:sp>
        <p:nvSpPr>
          <p:cNvPr id="22" name="Text 20"/>
          <p:cNvSpPr txBox="1"/>
          <p:nvPr/>
        </p:nvSpPr>
        <p:spPr>
          <a:xfrm>
            <a:off x="1591056" y="3337560"/>
            <a:ext cx="5303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F4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Clarion Alley &amp; Balmy Alley murals</a:t>
            </a:r>
            <a:endParaRPr lang="en-US" sz="1250" dirty="0"/>
          </a:p>
        </p:txBody>
      </p:sp>
      <p:sp>
        <p:nvSpPr>
          <p:cNvPr id="23" name="Text 21"/>
          <p:cNvSpPr txBox="1"/>
          <p:nvPr/>
        </p:nvSpPr>
        <p:spPr>
          <a:xfrm>
            <a:off x="1591056" y="3584448"/>
            <a:ext cx="5303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E46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Muralists often work here in the afternoon. Walk slowly, talk to them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1481328" y="3794760"/>
            <a:ext cx="5504688" cy="530352"/>
          </a:xfrm>
          <a:prstGeom prst="roundRect">
            <a:avLst>
              <a:gd name="adj" fmla="val 10345"/>
            </a:avLst>
          </a:prstGeom>
          <a:solidFill>
            <a:srgbClr val="FDF6E8"/>
          </a:solidFill>
          <a:ln w="12700">
            <a:solidFill>
              <a:srgbClr val="C9A227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1216152" y="3904488"/>
            <a:ext cx="164592" cy="164592"/>
          </a:xfrm>
          <a:prstGeom prst="ellipse">
            <a:avLst/>
          </a:prstGeom>
          <a:solidFill>
            <a:srgbClr val="C9A227"/>
          </a:solidFill>
          <a:ln w="25400">
            <a:solidFill>
              <a:srgbClr val="C9A227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640080" y="3840480"/>
            <a:ext cx="5669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1E2F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16:30</a:t>
            </a:r>
            <a:endParaRPr lang="en-US" sz="1100" dirty="0"/>
          </a:p>
        </p:txBody>
      </p:sp>
      <p:sp>
        <p:nvSpPr>
          <p:cNvPr id="27" name="Text 25"/>
          <p:cNvSpPr txBox="1"/>
          <p:nvPr/>
        </p:nvSpPr>
        <p:spPr>
          <a:xfrm>
            <a:off x="1591056" y="3840480"/>
            <a:ext cx="5303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F4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Dolores Park</a:t>
            </a:r>
            <a:endParaRPr lang="en-US" sz="1250" dirty="0"/>
          </a:p>
        </p:txBody>
      </p:sp>
      <p:sp>
        <p:nvSpPr>
          <p:cNvPr id="28" name="Text 26"/>
          <p:cNvSpPr txBox="1"/>
          <p:nvPr/>
        </p:nvSpPr>
        <p:spPr>
          <a:xfrm>
            <a:off x="1591056" y="4087368"/>
            <a:ext cx="5303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D64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FLEX — nothing is booked until 17:45. Stay if a conversation starts. This gap is the point</a:t>
            </a:r>
            <a:endParaRPr lang="en-US" sz="950" dirty="0"/>
          </a:p>
        </p:txBody>
      </p:sp>
      <p:sp>
        <p:nvSpPr>
          <p:cNvPr id="29" name="Shape 27"/>
          <p:cNvSpPr/>
          <p:nvPr/>
        </p:nvSpPr>
        <p:spPr>
          <a:xfrm>
            <a:off x="1481328" y="4297680"/>
            <a:ext cx="5504688" cy="530352"/>
          </a:xfrm>
          <a:prstGeom prst="roundRect">
            <a:avLst>
              <a:gd name="adj" fmla="val 10345"/>
            </a:avLst>
          </a:prstGeom>
          <a:solidFill>
            <a:srgbClr val="FBEDE9"/>
          </a:solidFill>
          <a:ln w="12700">
            <a:solidFill>
              <a:srgbClr val="D64933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1216152" y="4407408"/>
            <a:ext cx="164592" cy="164592"/>
          </a:xfrm>
          <a:prstGeom prst="ellipse">
            <a:avLst/>
          </a:prstGeom>
          <a:solidFill>
            <a:srgbClr val="D64933"/>
          </a:solidFill>
          <a:ln w="25400">
            <a:solidFill>
              <a:srgbClr val="D64933"/>
            </a:solidFill>
            <a:prstDash val="solid"/>
          </a:ln>
        </p:spPr>
      </p:sp>
      <p:sp>
        <p:nvSpPr>
          <p:cNvPr id="31" name="Text 29"/>
          <p:cNvSpPr txBox="1"/>
          <p:nvPr/>
        </p:nvSpPr>
        <p:spPr>
          <a:xfrm>
            <a:off x="640080" y="4343400"/>
            <a:ext cx="5669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1E2F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17:45</a:t>
            </a:r>
            <a:endParaRPr lang="en-US" sz="1100" dirty="0"/>
          </a:p>
        </p:txBody>
      </p:sp>
      <p:sp>
        <p:nvSpPr>
          <p:cNvPr id="32" name="Text 30"/>
          <p:cNvSpPr txBox="1"/>
          <p:nvPr/>
        </p:nvSpPr>
        <p:spPr>
          <a:xfrm>
            <a:off x="1591056" y="4343400"/>
            <a:ext cx="5303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F4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Fort Mason Night Market</a:t>
            </a:r>
            <a:endParaRPr lang="en-US" sz="1250" dirty="0"/>
          </a:p>
        </p:txBody>
      </p:sp>
      <p:sp>
        <p:nvSpPr>
          <p:cNvPr id="33" name="Text 31"/>
          <p:cNvSpPr txBox="1"/>
          <p:nvPr/>
        </p:nvSpPr>
        <p:spPr>
          <a:xfrm>
            <a:off x="1591056" y="4590288"/>
            <a:ext cx="5303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D64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Fridays only, 17:00–22:00, free. 25+ food stalls, 50+ makers, live music on the bay</a:t>
            </a:r>
            <a:endParaRPr lang="en-US" sz="950" dirty="0"/>
          </a:p>
        </p:txBody>
      </p:sp>
      <p:sp>
        <p:nvSpPr>
          <p:cNvPr id="34" name="Shape 32"/>
          <p:cNvSpPr/>
          <p:nvPr/>
        </p:nvSpPr>
        <p:spPr>
          <a:xfrm>
            <a:off x="1216152" y="4910328"/>
            <a:ext cx="164592" cy="164592"/>
          </a:xfrm>
          <a:prstGeom prst="ellipse">
            <a:avLst/>
          </a:prstGeom>
          <a:solidFill>
            <a:srgbClr val="FFFFFF"/>
          </a:solidFill>
          <a:ln w="25400">
            <a:solidFill>
              <a:srgbClr val="D64933"/>
            </a:solidFill>
            <a:prstDash val="solid"/>
          </a:ln>
        </p:spPr>
      </p:sp>
      <p:sp>
        <p:nvSpPr>
          <p:cNvPr id="35" name="Text 33"/>
          <p:cNvSpPr txBox="1"/>
          <p:nvPr/>
        </p:nvSpPr>
        <p:spPr>
          <a:xfrm>
            <a:off x="640080" y="4846320"/>
            <a:ext cx="5669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21:30</a:t>
            </a:r>
            <a:endParaRPr lang="en-US" sz="1100" dirty="0"/>
          </a:p>
        </p:txBody>
      </p:sp>
      <p:sp>
        <p:nvSpPr>
          <p:cNvPr id="36" name="Text 34"/>
          <p:cNvSpPr txBox="1"/>
          <p:nvPr/>
        </p:nvSpPr>
        <p:spPr>
          <a:xfrm>
            <a:off x="1591056" y="4846320"/>
            <a:ext cx="5303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F4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Waymo back to the hotel</a:t>
            </a:r>
            <a:endParaRPr lang="en-US" sz="1250" dirty="0"/>
          </a:p>
        </p:txBody>
      </p:sp>
      <p:sp>
        <p:nvSpPr>
          <p:cNvPr id="37" name="Text 35"/>
          <p:cNvSpPr txBox="1"/>
          <p:nvPr/>
        </p:nvSpPr>
        <p:spPr>
          <a:xfrm>
            <a:off x="1591056" y="5093208"/>
            <a:ext cx="5303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E46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You’ll have been awake ~20 hours. Day 2 doesn’t start before 09:00</a:t>
            </a:r>
            <a:endParaRPr lang="en-US" sz="950" dirty="0"/>
          </a:p>
        </p:txBody>
      </p:sp>
      <p:sp>
        <p:nvSpPr>
          <p:cNvPr id="38" name="Text 36"/>
          <p:cNvSpPr txBox="1"/>
          <p:nvPr/>
        </p:nvSpPr>
        <p:spPr>
          <a:xfrm>
            <a:off x="7360920" y="1517904"/>
            <a:ext cx="418795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80" kern="0" dirty="0">
                <a:solidFill>
                  <a:srgbClr val="D64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MAP THAT COMES WITH IT</a:t>
            </a:r>
            <a:endParaRPr lang="en-US" sz="1000" dirty="0"/>
          </a:p>
        </p:txBody>
      </p:sp>
      <p:sp>
        <p:nvSpPr>
          <p:cNvPr id="39" name="Shape 37"/>
          <p:cNvSpPr/>
          <p:nvPr/>
        </p:nvSpPr>
        <p:spPr>
          <a:xfrm>
            <a:off x="7360920" y="1883664"/>
            <a:ext cx="4187952" cy="2999232"/>
          </a:xfrm>
          <a:prstGeom prst="roundRect">
            <a:avLst>
              <a:gd name="adj" fmla="val 2439"/>
            </a:avLst>
          </a:prstGeom>
          <a:solidFill>
            <a:srgbClr val="E4E9EF"/>
          </a:solidFill>
          <a:ln w="12700">
            <a:solidFill>
              <a:srgbClr val="C9D3DF"/>
            </a:solidFill>
            <a:prstDash val="solid"/>
          </a:ln>
          <a:effectLst>
            <a:outerShdw sx="100000" sy="100000" kx="0" ky="0" algn="bl" rotWithShape="0" blurRad="127000" dist="25400" dir="5400000">
              <a:srgbClr val="1E2F4D">
                <a:alpha val="14000"/>
              </a:srgbClr>
            </a:outerShdw>
          </a:effectLst>
        </p:spPr>
      </p:sp>
      <p:sp>
        <p:nvSpPr>
          <p:cNvPr id="40" name="Shape 38"/>
          <p:cNvSpPr/>
          <p:nvPr/>
        </p:nvSpPr>
        <p:spPr>
          <a:xfrm>
            <a:off x="10488168" y="1929384"/>
            <a:ext cx="1014984" cy="1600200"/>
          </a:xfrm>
          <a:prstGeom prst="roundRect">
            <a:avLst>
              <a:gd name="adj" fmla="val 7207"/>
            </a:avLst>
          </a:prstGeom>
          <a:solidFill>
            <a:srgbClr val="CBDCEA"/>
          </a:solidFill>
          <a:ln w="12700">
            <a:solidFill>
              <a:srgbClr val="CBDCEA"/>
            </a:solidFill>
            <a:prstDash val="solid"/>
          </a:ln>
        </p:spPr>
      </p:sp>
      <p:sp>
        <p:nvSpPr>
          <p:cNvPr id="41" name="Text 39"/>
          <p:cNvSpPr txBox="1"/>
          <p:nvPr/>
        </p:nvSpPr>
        <p:spPr>
          <a:xfrm>
            <a:off x="10561320" y="2569464"/>
            <a:ext cx="8686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7C9B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SF BAY</a:t>
            </a:r>
            <a:endParaRPr lang="en-US" sz="800" dirty="0"/>
          </a:p>
        </p:txBody>
      </p:sp>
      <p:sp>
        <p:nvSpPr>
          <p:cNvPr id="42" name="Shape 40"/>
          <p:cNvSpPr/>
          <p:nvPr/>
        </p:nvSpPr>
        <p:spPr>
          <a:xfrm>
            <a:off x="8732520" y="4187952"/>
            <a:ext cx="566928" cy="402336"/>
          </a:xfrm>
          <a:prstGeom prst="roundRect">
            <a:avLst>
              <a:gd name="adj" fmla="val 13636"/>
            </a:avLst>
          </a:prstGeom>
          <a:solidFill>
            <a:srgbClr val="CFDEC8"/>
          </a:solidFill>
          <a:ln w="12700">
            <a:solidFill>
              <a:srgbClr val="CFDEC8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7470648" y="2011680"/>
            <a:ext cx="868680" cy="292608"/>
          </a:xfrm>
          <a:prstGeom prst="roundRect">
            <a:avLst>
              <a:gd name="adj" fmla="val 18750"/>
            </a:avLst>
          </a:prstGeom>
          <a:solidFill>
            <a:srgbClr val="CFDEC8"/>
          </a:solidFill>
          <a:ln w="12700">
            <a:solidFill>
              <a:srgbClr val="CFDEC8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7434072" y="2450592"/>
            <a:ext cx="3017520" cy="0"/>
          </a:xfrm>
          <a:prstGeom prst="line">
            <a:avLst/>
          </a:prstGeom>
          <a:noFill/>
          <a:ln w="33020">
            <a:solidFill>
              <a:srgbClr val="FFFFFF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7434072" y="3090672"/>
            <a:ext cx="3017520" cy="0"/>
          </a:xfrm>
          <a:prstGeom prst="line">
            <a:avLst/>
          </a:prstGeom>
          <a:noFill/>
          <a:ln w="33020">
            <a:solidFill>
              <a:srgbClr val="FFFFFF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7434072" y="3730752"/>
            <a:ext cx="3017520" cy="0"/>
          </a:xfrm>
          <a:prstGeom prst="line">
            <a:avLst/>
          </a:prstGeom>
          <a:noFill/>
          <a:ln w="33020">
            <a:solidFill>
              <a:srgbClr val="FFFFFF"/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7434072" y="4370832"/>
            <a:ext cx="3017520" cy="0"/>
          </a:xfrm>
          <a:prstGeom prst="line">
            <a:avLst/>
          </a:prstGeom>
          <a:noFill/>
          <a:ln w="33020">
            <a:solidFill>
              <a:srgbClr val="FFFFFF"/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8138160" y="1956816"/>
            <a:ext cx="0" cy="2852928"/>
          </a:xfrm>
          <a:prstGeom prst="line">
            <a:avLst/>
          </a:prstGeom>
          <a:noFill/>
          <a:ln w="33020">
            <a:solidFill>
              <a:srgbClr val="FFFFFF"/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8961120" y="1956816"/>
            <a:ext cx="0" cy="2852928"/>
          </a:xfrm>
          <a:prstGeom prst="line">
            <a:avLst/>
          </a:prstGeom>
          <a:noFill/>
          <a:ln w="33020">
            <a:solidFill>
              <a:srgbClr val="FFFFFF"/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>
            <a:off x="9784080" y="1956816"/>
            <a:ext cx="0" cy="2852928"/>
          </a:xfrm>
          <a:prstGeom prst="line">
            <a:avLst/>
          </a:prstGeom>
          <a:noFill/>
          <a:ln w="33020">
            <a:solidFill>
              <a:srgbClr val="FFFFFF"/>
            </a:solidFill>
            <a:prstDash val="solid"/>
          </a:ln>
        </p:spPr>
      </p:sp>
      <p:sp>
        <p:nvSpPr>
          <p:cNvPr id="51" name="Shape 49"/>
          <p:cNvSpPr/>
          <p:nvPr/>
        </p:nvSpPr>
        <p:spPr>
          <a:xfrm flipV="1">
            <a:off x="7772400" y="3666744"/>
            <a:ext cx="822960" cy="914400"/>
          </a:xfrm>
          <a:prstGeom prst="line">
            <a:avLst/>
          </a:prstGeom>
          <a:noFill/>
          <a:ln w="33020">
            <a:solidFill>
              <a:srgbClr val="D64933"/>
            </a:solidFill>
            <a:prstDash val="solid"/>
          </a:ln>
        </p:spPr>
      </p:sp>
      <p:sp>
        <p:nvSpPr>
          <p:cNvPr id="52" name="Shape 50"/>
          <p:cNvSpPr/>
          <p:nvPr/>
        </p:nvSpPr>
        <p:spPr>
          <a:xfrm flipV="1">
            <a:off x="8595360" y="2843784"/>
            <a:ext cx="1783080" cy="822960"/>
          </a:xfrm>
          <a:prstGeom prst="line">
            <a:avLst/>
          </a:prstGeom>
          <a:noFill/>
          <a:ln w="33020">
            <a:solidFill>
              <a:srgbClr val="D64933"/>
            </a:solidFill>
            <a:prstDash val="solid"/>
          </a:ln>
        </p:spPr>
      </p:sp>
      <p:sp>
        <p:nvSpPr>
          <p:cNvPr id="53" name="Shape 51"/>
          <p:cNvSpPr/>
          <p:nvPr/>
        </p:nvSpPr>
        <p:spPr>
          <a:xfrm flipV="1">
            <a:off x="9509760" y="2843784"/>
            <a:ext cx="868680" cy="1371600"/>
          </a:xfrm>
          <a:prstGeom prst="line">
            <a:avLst/>
          </a:prstGeom>
          <a:noFill/>
          <a:ln w="33020">
            <a:solidFill>
              <a:srgbClr val="D64933"/>
            </a:solidFill>
            <a:prstDash val="solid"/>
          </a:ln>
        </p:spPr>
      </p:sp>
      <p:sp>
        <p:nvSpPr>
          <p:cNvPr id="54" name="Shape 52"/>
          <p:cNvSpPr/>
          <p:nvPr/>
        </p:nvSpPr>
        <p:spPr>
          <a:xfrm flipV="1">
            <a:off x="8988552" y="4215384"/>
            <a:ext cx="521208" cy="210312"/>
          </a:xfrm>
          <a:prstGeom prst="line">
            <a:avLst/>
          </a:prstGeom>
          <a:noFill/>
          <a:ln w="33020">
            <a:solidFill>
              <a:srgbClr val="D64933"/>
            </a:solidFill>
            <a:prstDash val="solid"/>
          </a:ln>
        </p:spPr>
      </p:sp>
      <p:sp>
        <p:nvSpPr>
          <p:cNvPr id="55" name="Shape 53"/>
          <p:cNvSpPr/>
          <p:nvPr/>
        </p:nvSpPr>
        <p:spPr>
          <a:xfrm>
            <a:off x="8659368" y="2267712"/>
            <a:ext cx="329184" cy="2157984"/>
          </a:xfrm>
          <a:prstGeom prst="line">
            <a:avLst/>
          </a:prstGeom>
          <a:noFill/>
          <a:ln w="33020">
            <a:solidFill>
              <a:srgbClr val="D64933"/>
            </a:solidFill>
            <a:prstDash val="solid"/>
          </a:ln>
        </p:spPr>
      </p:sp>
      <p:sp>
        <p:nvSpPr>
          <p:cNvPr id="56" name="Shape 54"/>
          <p:cNvSpPr/>
          <p:nvPr/>
        </p:nvSpPr>
        <p:spPr>
          <a:xfrm>
            <a:off x="7635240" y="4443984"/>
            <a:ext cx="274320" cy="274320"/>
          </a:xfrm>
          <a:prstGeom prst="ellipse">
            <a:avLst/>
          </a:prstGeom>
          <a:solidFill>
            <a:srgbClr val="1E2F4D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57" name="Text 55"/>
          <p:cNvSpPr txBox="1"/>
          <p:nvPr/>
        </p:nvSpPr>
        <p:spPr>
          <a:xfrm>
            <a:off x="7635240" y="4443984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000" dirty="0"/>
          </a:p>
        </p:txBody>
      </p:sp>
      <p:sp>
        <p:nvSpPr>
          <p:cNvPr id="58" name="Text 56"/>
          <p:cNvSpPr txBox="1"/>
          <p:nvPr/>
        </p:nvSpPr>
        <p:spPr>
          <a:xfrm>
            <a:off x="7991856" y="4462272"/>
            <a:ext cx="1188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1E2F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SFO</a:t>
            </a:r>
            <a:endParaRPr lang="en-US" sz="850" dirty="0"/>
          </a:p>
        </p:txBody>
      </p:sp>
      <p:sp>
        <p:nvSpPr>
          <p:cNvPr id="59" name="Shape 57"/>
          <p:cNvSpPr/>
          <p:nvPr/>
        </p:nvSpPr>
        <p:spPr>
          <a:xfrm>
            <a:off x="8458200" y="3529584"/>
            <a:ext cx="274320" cy="274320"/>
          </a:xfrm>
          <a:prstGeom prst="ellipse">
            <a:avLst/>
          </a:prstGeom>
          <a:solidFill>
            <a:srgbClr val="D64933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60" name="Text 58"/>
          <p:cNvSpPr txBox="1"/>
          <p:nvPr/>
        </p:nvSpPr>
        <p:spPr>
          <a:xfrm>
            <a:off x="8458200" y="3529584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00" dirty="0"/>
          </a:p>
        </p:txBody>
      </p:sp>
      <p:sp>
        <p:nvSpPr>
          <p:cNvPr id="61" name="Text 59"/>
          <p:cNvSpPr txBox="1"/>
          <p:nvPr/>
        </p:nvSpPr>
        <p:spPr>
          <a:xfrm>
            <a:off x="7187184" y="3547872"/>
            <a:ext cx="1188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1E2F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Hayes Valley</a:t>
            </a:r>
            <a:endParaRPr lang="en-US" sz="850" dirty="0"/>
          </a:p>
        </p:txBody>
      </p:sp>
      <p:sp>
        <p:nvSpPr>
          <p:cNvPr id="62" name="Shape 60"/>
          <p:cNvSpPr/>
          <p:nvPr/>
        </p:nvSpPr>
        <p:spPr>
          <a:xfrm>
            <a:off x="10241280" y="2706624"/>
            <a:ext cx="274320" cy="274320"/>
          </a:xfrm>
          <a:prstGeom prst="ellipse">
            <a:avLst/>
          </a:prstGeom>
          <a:solidFill>
            <a:srgbClr val="D64933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63" name="Text 61"/>
          <p:cNvSpPr txBox="1"/>
          <p:nvPr/>
        </p:nvSpPr>
        <p:spPr>
          <a:xfrm>
            <a:off x="10241280" y="2706624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0" dirty="0"/>
          </a:p>
        </p:txBody>
      </p:sp>
      <p:sp>
        <p:nvSpPr>
          <p:cNvPr id="64" name="Text 62"/>
          <p:cNvSpPr txBox="1"/>
          <p:nvPr/>
        </p:nvSpPr>
        <p:spPr>
          <a:xfrm>
            <a:off x="8970264" y="2724912"/>
            <a:ext cx="1188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1E2F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Ferry Building</a:t>
            </a:r>
            <a:endParaRPr lang="en-US" sz="850" dirty="0"/>
          </a:p>
        </p:txBody>
      </p:sp>
      <p:sp>
        <p:nvSpPr>
          <p:cNvPr id="65" name="Shape 63"/>
          <p:cNvSpPr/>
          <p:nvPr/>
        </p:nvSpPr>
        <p:spPr>
          <a:xfrm>
            <a:off x="9372600" y="4078224"/>
            <a:ext cx="274320" cy="274320"/>
          </a:xfrm>
          <a:prstGeom prst="ellipse">
            <a:avLst/>
          </a:prstGeom>
          <a:solidFill>
            <a:srgbClr val="D64933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66" name="Text 64"/>
          <p:cNvSpPr txBox="1"/>
          <p:nvPr/>
        </p:nvSpPr>
        <p:spPr>
          <a:xfrm>
            <a:off x="9372600" y="4078224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00" dirty="0"/>
          </a:p>
        </p:txBody>
      </p:sp>
      <p:sp>
        <p:nvSpPr>
          <p:cNvPr id="67" name="Text 65"/>
          <p:cNvSpPr txBox="1"/>
          <p:nvPr/>
        </p:nvSpPr>
        <p:spPr>
          <a:xfrm>
            <a:off x="9729216" y="4096512"/>
            <a:ext cx="1188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1E2F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Mission murals</a:t>
            </a:r>
            <a:endParaRPr lang="en-US" sz="850" dirty="0"/>
          </a:p>
        </p:txBody>
      </p:sp>
      <p:sp>
        <p:nvSpPr>
          <p:cNvPr id="68" name="Shape 66"/>
          <p:cNvSpPr/>
          <p:nvPr/>
        </p:nvSpPr>
        <p:spPr>
          <a:xfrm>
            <a:off x="8851392" y="4288536"/>
            <a:ext cx="274320" cy="274320"/>
          </a:xfrm>
          <a:prstGeom prst="ellipse">
            <a:avLst/>
          </a:prstGeom>
          <a:solidFill>
            <a:srgbClr val="D64933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69" name="Text 67"/>
          <p:cNvSpPr txBox="1"/>
          <p:nvPr/>
        </p:nvSpPr>
        <p:spPr>
          <a:xfrm>
            <a:off x="8851392" y="4288536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000" dirty="0"/>
          </a:p>
        </p:txBody>
      </p:sp>
      <p:sp>
        <p:nvSpPr>
          <p:cNvPr id="70" name="Text 68"/>
          <p:cNvSpPr txBox="1"/>
          <p:nvPr/>
        </p:nvSpPr>
        <p:spPr>
          <a:xfrm>
            <a:off x="7580376" y="4306824"/>
            <a:ext cx="1188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1E2F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Dolores Park</a:t>
            </a:r>
            <a:endParaRPr lang="en-US" sz="850" dirty="0"/>
          </a:p>
        </p:txBody>
      </p:sp>
      <p:sp>
        <p:nvSpPr>
          <p:cNvPr id="71" name="Shape 69"/>
          <p:cNvSpPr/>
          <p:nvPr/>
        </p:nvSpPr>
        <p:spPr>
          <a:xfrm>
            <a:off x="8522208" y="2130552"/>
            <a:ext cx="274320" cy="274320"/>
          </a:xfrm>
          <a:prstGeom prst="ellipse">
            <a:avLst/>
          </a:prstGeom>
          <a:solidFill>
            <a:srgbClr val="D64933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72" name="Text 70"/>
          <p:cNvSpPr txBox="1"/>
          <p:nvPr/>
        </p:nvSpPr>
        <p:spPr>
          <a:xfrm>
            <a:off x="8522208" y="2130552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000" dirty="0"/>
          </a:p>
        </p:txBody>
      </p:sp>
      <p:sp>
        <p:nvSpPr>
          <p:cNvPr id="73" name="Text 71"/>
          <p:cNvSpPr txBox="1"/>
          <p:nvPr/>
        </p:nvSpPr>
        <p:spPr>
          <a:xfrm>
            <a:off x="8878824" y="2148840"/>
            <a:ext cx="1188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1E2F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Fort Mason</a:t>
            </a:r>
            <a:endParaRPr lang="en-US" sz="850" dirty="0"/>
          </a:p>
        </p:txBody>
      </p:sp>
      <p:sp>
        <p:nvSpPr>
          <p:cNvPr id="74" name="Shape 72"/>
          <p:cNvSpPr/>
          <p:nvPr/>
        </p:nvSpPr>
        <p:spPr>
          <a:xfrm>
            <a:off x="7360920" y="5047488"/>
            <a:ext cx="4187952" cy="1115568"/>
          </a:xfrm>
          <a:prstGeom prst="roundRect">
            <a:avLst>
              <a:gd name="adj" fmla="val 6557"/>
            </a:avLst>
          </a:prstGeom>
          <a:solidFill>
            <a:srgbClr val="FDF6E8"/>
          </a:solidFill>
          <a:ln w="15875">
            <a:solidFill>
              <a:srgbClr val="C9A227"/>
            </a:solidFill>
            <a:prstDash val="solid"/>
          </a:ln>
        </p:spPr>
      </p:sp>
      <p:pic>
        <p:nvPicPr>
          <p:cNvPr id="7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598664" y="5212080"/>
            <a:ext cx="219456" cy="219456"/>
          </a:xfrm>
          <a:prstGeom prst="rect">
            <a:avLst/>
          </a:prstGeom>
        </p:spPr>
      </p:pic>
      <p:sp>
        <p:nvSpPr>
          <p:cNvPr id="76" name="Text 73"/>
          <p:cNvSpPr txBox="1"/>
          <p:nvPr/>
        </p:nvSpPr>
        <p:spPr>
          <a:xfrm>
            <a:off x="7909560" y="5175504"/>
            <a:ext cx="34015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649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Why this fits an ENFP</a:t>
            </a:r>
            <a:endParaRPr lang="en-US" sz="1300" dirty="0"/>
          </a:p>
        </p:txBody>
      </p:sp>
      <p:sp>
        <p:nvSpPr>
          <p:cNvPr id="77" name="Text 74"/>
          <p:cNvSpPr txBox="1"/>
          <p:nvPr/>
        </p:nvSpPr>
        <p:spPr>
          <a:xfrm>
            <a:off x="7598664" y="5486400"/>
            <a:ext cx="3712464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900" dirty="0">
                <a:solidFill>
                  <a:srgbClr val="1E2F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People, not monuments — places where strangers talk back</a:t>
            </a:r>
            <a:endParaRPr lang="en-US" sz="9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900" dirty="0">
                <a:solidFill>
                  <a:srgbClr val="1E2F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Four anchors only — a packed schedule is what an ENFP resents</a:t>
            </a:r>
            <a:endParaRPr lang="en-US" sz="9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900" dirty="0">
                <a:solidFill>
                  <a:srgbClr val="1E2F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thing that can’t be repeated — the night market is Fridays only</a:t>
            </a:r>
            <a:endParaRPr lang="en-US" sz="900" dirty="0"/>
          </a:p>
        </p:txBody>
      </p:sp>
      <p:sp>
        <p:nvSpPr>
          <p:cNvPr id="78" name="Shape 75"/>
          <p:cNvSpPr/>
          <p:nvPr/>
        </p:nvSpPr>
        <p:spPr>
          <a:xfrm>
            <a:off x="640080" y="5468112"/>
            <a:ext cx="6345936" cy="457200"/>
          </a:xfrm>
          <a:prstGeom prst="roundRect">
            <a:avLst>
              <a:gd name="adj" fmla="val 12000"/>
            </a:avLst>
          </a:prstGeom>
          <a:solidFill>
            <a:srgbClr val="F7F5F1"/>
          </a:solidFill>
          <a:ln w="12700">
            <a:solidFill>
              <a:srgbClr val="E4DFD3"/>
            </a:solidFill>
            <a:prstDash val="solid"/>
          </a:ln>
        </p:spPr>
      </p:sp>
      <p:sp>
        <p:nvSpPr>
          <p:cNvPr id="79" name="Text 76"/>
          <p:cNvSpPr txBox="1"/>
          <p:nvPr/>
        </p:nvSpPr>
        <p:spPr>
          <a:xfrm>
            <a:off x="822960" y="5468112"/>
            <a:ext cx="1325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D64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2  ·  SAT 19</a:t>
            </a:r>
            <a:endParaRPr lang="en-US" sz="900" dirty="0"/>
          </a:p>
        </p:txBody>
      </p:sp>
      <p:sp>
        <p:nvSpPr>
          <p:cNvPr id="80" name="Text 77"/>
          <p:cNvSpPr txBox="1"/>
          <p:nvPr/>
        </p:nvSpPr>
        <p:spPr>
          <a:xfrm>
            <a:off x="2194560" y="5468112"/>
            <a:ext cx="4663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E46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Ferry Plaza Farmers Market (08:00–14:00, 100+ stalls) → Golden Gate Park → sunset at Twin Peaks</a:t>
            </a:r>
            <a:endParaRPr lang="en-US" sz="900" dirty="0"/>
          </a:p>
        </p:txBody>
      </p:sp>
      <p:sp>
        <p:nvSpPr>
          <p:cNvPr id="81" name="Shape 78"/>
          <p:cNvSpPr/>
          <p:nvPr/>
        </p:nvSpPr>
        <p:spPr>
          <a:xfrm>
            <a:off x="640080" y="5980176"/>
            <a:ext cx="6345936" cy="457200"/>
          </a:xfrm>
          <a:prstGeom prst="roundRect">
            <a:avLst>
              <a:gd name="adj" fmla="val 12000"/>
            </a:avLst>
          </a:prstGeom>
          <a:solidFill>
            <a:srgbClr val="F7F5F1"/>
          </a:solidFill>
          <a:ln w="12700">
            <a:solidFill>
              <a:srgbClr val="E4DFD3"/>
            </a:solidFill>
            <a:prstDash val="solid"/>
          </a:ln>
        </p:spPr>
      </p:sp>
      <p:sp>
        <p:nvSpPr>
          <p:cNvPr id="82" name="Text 79"/>
          <p:cNvSpPr txBox="1"/>
          <p:nvPr/>
        </p:nvSpPr>
        <p:spPr>
          <a:xfrm>
            <a:off x="822960" y="5980176"/>
            <a:ext cx="1325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D64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3  ·  SUN 20</a:t>
            </a:r>
            <a:endParaRPr lang="en-US" sz="900" dirty="0"/>
          </a:p>
        </p:txBody>
      </p:sp>
      <p:sp>
        <p:nvSpPr>
          <p:cNvPr id="83" name="Text 80"/>
          <p:cNvSpPr txBox="1"/>
          <p:nvPr/>
        </p:nvSpPr>
        <p:spPr>
          <a:xfrm>
            <a:off x="2194560" y="5980176"/>
            <a:ext cx="4663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E46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Left almost blank on purpose — three options ranked, chosen the night before</a:t>
            </a:r>
            <a:endParaRPr lang="en-US" sz="900" dirty="0"/>
          </a:p>
        </p:txBody>
      </p:sp>
      <p:sp>
        <p:nvSpPr>
          <p:cNvPr id="84" name="Text 81"/>
          <p:cNvSpPr txBox="1"/>
          <p:nvPr/>
        </p:nvSpPr>
        <p:spPr>
          <a:xfrm>
            <a:off x="640080" y="6510528"/>
            <a:ext cx="1090879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Sources: Fort Mason Night Market 2026 dates (fortmason.org) · Ferry Plaza Farmers Market, Sat 08:00–14:00 (foodwise.org) · Waymo SFO pickup at the Rental Car Center, Jan 2026 (waymo.com). Verified 10 Sep 2026.</a:t>
            </a:r>
            <a:endParaRPr lang="en-US" sz="7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5" baseType="lpstr">
      <vt:lpstr>Arial</vt:lpstr>
      <vt:lpstr>Calibri</vt:lpstr>
      <vt:lpstr>Office Theme</vt:lpstr>
      <vt:lpstr>Slide 1</vt:lpstr>
      <vt:lpstr>Slide 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Omakase Travel Planner</dc:title>
  <dc:subject>PptxGenJS Presentation</dc:subject>
  <dc:creator>PptxGenJS</dc:creator>
  <cp:lastModifiedBy>PptxGenJS</cp:lastModifiedBy>
  <cp:revision>1</cp:revision>
  <dcterms:created xsi:type="dcterms:W3CDTF">2026-09-10T22:18:06Z</dcterms:created>
  <dcterms:modified xsi:type="dcterms:W3CDTF">2026-09-10T22:18:06Z</dcterms:modified>
</cp:coreProperties>
</file>